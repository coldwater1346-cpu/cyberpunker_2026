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24384000" cy="13716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3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5817-B4C3-487B-9707-29A11FC0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A2A48-501C-4AA7-9142-E1FA9E911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D6BD8-DC29-448F-B7DA-4E9BF07670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9AD54-6C5D-458B-B710-D535B2AAB72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CCF23-85B3-435F-A924-29C2F67E36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99D3-4FA1-4A6A-B9CB-119BEA0CB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AB828-D2C3-4ED4-A6E3-E14B90BA5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EC5C4-221B-46E2-98A1-1CDECD645F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9E398-6806-40C4-8AD2-569EB3C47D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CF897-8FC6-4352-B20A-F5E65E7F26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E8FF-64F2-46AD-A571-A1A30B7F0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B0D15-D12A-4C59-BD6F-B42B3E506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1A704-CE50-45D8-A8A0-4E6B33FFC8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BC60A-308F-499A-9273-0A5A299CF0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F3010-EA5D-425A-8C52-DD44C8F68E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1490-7C74-4E9E-A2C3-16C83DBE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E3D73-AF0A-48C5-AD4E-5D2F0530D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F2445-8E4C-40AD-AD67-3C3A381FF0E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6499A-8A20-4B3D-9092-0156155001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17BE3-6C1C-41A8-B8BC-F0783D9DCE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DDF80-DA0F-40B1-91A0-E44F7113C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3336-2BF3-4275-9944-BC2195CB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95F6-4891-4D86-9BC1-1EF21CBA2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0299E-41F8-4DDD-93E0-2AC3D577AA2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708693-AE4C-4F70-955C-DEFA80CC8B8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0A5EC-602B-4E5D-9861-82715487FDB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B36B4-2E06-4455-8234-FDBC4CD2B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23437-670D-479E-A11E-A84F35013A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9C743-B867-44FB-9950-919AD079F5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9504-8238-45AB-AB7B-408C7037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837C1-5E77-4144-80CE-E755CF1B4D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FC34E-076F-47A9-A3B2-6257B15908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D6DDA-673D-4603-AB7E-8528F8642E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1DE80-7313-47F1-A3F1-0073B626DB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CA119-995A-4606-A8FA-011A07094F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CF623-D033-4696-98F5-78B714595F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E625-1B34-4983-BB8F-3F5EDCF1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F18B-B09D-40F9-B99A-0F2603B8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B168B-3B57-4AFE-A668-CF8D8F7C0E0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B3D34-8CAE-41A7-B137-3DCDB8B63F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3AAA9-A413-4BF6-9DD5-2FC45F39BC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7935B-C9C8-4572-9C0D-E5BA07B4A1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569F-09F6-48AE-A7BC-6F63754F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BB578-BD7A-4D76-A618-C62EDB72F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F0498-4967-4F6E-8E11-3F59727EECF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BE3F0-0CEA-42C8-8A4B-E4BFA836D6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519C1-DC6E-41A0-B11D-F355C5D47F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65DFA-8473-41D0-B3E8-FB674FB544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B199-5567-4803-9E8E-169A6E17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1F375-F51E-4BEB-BDDA-AB1AE8839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35D81-AF71-411C-B06C-D840D1E50B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7E6EF-FFBC-4833-BB32-F3C9CEA5C6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B065E-2FD6-4B84-9E46-B85C3B3029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48C2E-B322-4330-BA03-48BDF81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F25E1-C3F9-4620-8B0F-51DA7B64B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8426B-7B38-4E06-BEF4-9055AA307E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4869D-261E-49E8-A250-943B96A148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95CE-4DCB-4F54-9A14-E56C848C7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DB35B2-2AA6-42BF-9AA6-A7CE74A2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481DC-87AE-455F-AC1E-79476A040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1235-BD4E-4A6C-A767-8FCBE2A05C9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2026-08-27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2C76-47D2-459B-91B4-8B8ACA8CF72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FA3A-23F3-4DA4-80B3-19123E7BA88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hyperlink" Target="https://github.com/coldwater1346-cpu" TargetMode="External"/><Relationship Id="rId5" Type="http://schemas.openxmlformats.org/officeDocument/2006/relationships/image" Target="../media/image3.png"/><Relationship Id="rId10" Type="http://schemas.openxmlformats.org/officeDocument/2006/relationships/hyperlink" Target="mailto:coldwater1346@gmail.com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gif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gif"/><Relationship Id="rId3" Type="http://schemas.openxmlformats.org/officeDocument/2006/relationships/image" Target="../media/image14.png"/><Relationship Id="rId7" Type="http://schemas.openxmlformats.org/officeDocument/2006/relationships/image" Target="../media/image33.png"/><Relationship Id="rId12" Type="http://schemas.openxmlformats.org/officeDocument/2006/relationships/image" Target="../media/image3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22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14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22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4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22.png"/><Relationship Id="rId9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22.png"/><Relationship Id="rId9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ldwater1346-cpu/Shield-and-Shot" TargetMode="External"/><Relationship Id="rId5" Type="http://schemas.openxmlformats.org/officeDocument/2006/relationships/image" Target="../media/image61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gif"/><Relationship Id="rId3" Type="http://schemas.openxmlformats.org/officeDocument/2006/relationships/image" Target="../media/image14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22.png"/><Relationship Id="rId9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4.png"/><Relationship Id="rId7" Type="http://schemas.openxmlformats.org/officeDocument/2006/relationships/image" Target="../media/image74.png"/><Relationship Id="rId12" Type="http://schemas.openxmlformats.org/officeDocument/2006/relationships/image" Target="../media/image79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gif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22.png"/><Relationship Id="rId9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gif"/><Relationship Id="rId3" Type="http://schemas.openxmlformats.org/officeDocument/2006/relationships/image" Target="../media/image14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4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22.png"/><Relationship Id="rId9" Type="http://schemas.openxmlformats.org/officeDocument/2006/relationships/image" Target="../media/image8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4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66.png"/><Relationship Id="rId10" Type="http://schemas.openxmlformats.org/officeDocument/2006/relationships/image" Target="../media/image98.png"/><Relationship Id="rId4" Type="http://schemas.openxmlformats.org/officeDocument/2006/relationships/image" Target="../media/image22.png"/><Relationship Id="rId9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14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22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ldwater1346-cpu/Shield-and-Shot" TargetMode="External"/><Relationship Id="rId5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gif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gif"/><Relationship Id="rId3" Type="http://schemas.openxmlformats.org/officeDocument/2006/relationships/image" Target="../media/image111.png"/><Relationship Id="rId7" Type="http://schemas.openxmlformats.org/officeDocument/2006/relationships/image" Target="../media/image114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gif"/><Relationship Id="rId5" Type="http://schemas.openxmlformats.org/officeDocument/2006/relationships/image" Target="../media/image112.png"/><Relationship Id="rId4" Type="http://schemas.openxmlformats.org/officeDocument/2006/relationships/image" Target="../media/image22.png"/><Relationship Id="rId9" Type="http://schemas.openxmlformats.org/officeDocument/2006/relationships/image" Target="../media/image116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4.png"/><Relationship Id="rId7" Type="http://schemas.openxmlformats.org/officeDocument/2006/relationships/image" Target="../media/image119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gif"/><Relationship Id="rId10" Type="http://schemas.openxmlformats.org/officeDocument/2006/relationships/image" Target="../media/image122.png"/><Relationship Id="rId4" Type="http://schemas.openxmlformats.org/officeDocument/2006/relationships/image" Target="../media/image22.png"/><Relationship Id="rId9" Type="http://schemas.openxmlformats.org/officeDocument/2006/relationships/image" Target="../media/image121.gi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4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131.png"/><Relationship Id="rId5" Type="http://schemas.openxmlformats.org/officeDocument/2006/relationships/image" Target="../media/image127.png"/><Relationship Id="rId10" Type="http://schemas.openxmlformats.org/officeDocument/2006/relationships/image" Target="../media/image130.png"/><Relationship Id="rId4" Type="http://schemas.openxmlformats.org/officeDocument/2006/relationships/image" Target="../media/image22.png"/><Relationship Id="rId9" Type="http://schemas.openxmlformats.org/officeDocument/2006/relationships/image" Target="../media/image1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ldwater1346-cpu/Shield-and-Shot" TargetMode="External"/><Relationship Id="rId5" Type="http://schemas.openxmlformats.org/officeDocument/2006/relationships/image" Target="../media/image61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4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22.png"/><Relationship Id="rId9" Type="http://schemas.openxmlformats.org/officeDocument/2006/relationships/image" Target="../media/image1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4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22.png"/><Relationship Id="rId9" Type="http://schemas.openxmlformats.org/officeDocument/2006/relationships/image" Target="../media/image1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39.png"/><Relationship Id="rId10" Type="http://schemas.openxmlformats.org/officeDocument/2006/relationships/image" Target="../media/image148.png"/><Relationship Id="rId4" Type="http://schemas.openxmlformats.org/officeDocument/2006/relationships/image" Target="../media/image22.png"/><Relationship Id="rId9" Type="http://schemas.openxmlformats.org/officeDocument/2006/relationships/image" Target="../media/image14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9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10" Type="http://schemas.openxmlformats.org/officeDocument/2006/relationships/hyperlink" Target="https://github.com/coldwater1346-cpu" TargetMode="External"/><Relationship Id="rId4" Type="http://schemas.openxmlformats.org/officeDocument/2006/relationships/image" Target="../media/image2.png"/><Relationship Id="rId9" Type="http://schemas.openxmlformats.org/officeDocument/2006/relationships/hyperlink" Target="mailto:coldwater1346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431800"/>
            <a:ext cx="508000" cy="12852400"/>
          </a:xfrm>
          <a:prstGeom prst="rect">
            <a:avLst/>
          </a:prstGeom>
        </p:spPr>
      </p:pic>
      <p:pic>
        <p:nvPicPr>
          <p:cNvPr id="29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2336800"/>
            <a:ext cx="19494500" cy="90297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1C16F857-C59A-4D75-B3C3-911F3A6D4B31}"/>
              </a:ext>
            </a:extLst>
          </p:cNvPr>
          <p:cNvSpPr>
            <a:spLocks noGrp="1"/>
          </p:cNvSpPr>
          <p:nvPr/>
        </p:nvSpPr>
        <p:spPr>
          <a:xfrm>
            <a:off x="10845800" y="2857500"/>
            <a:ext cx="2679700" cy="406400"/>
          </a:xfrm>
          <a:prstGeom prst="rect">
            <a:avLst/>
          </a:prstGeom>
        </p:spPr>
        <p:txBody>
          <a:bodyPr lIns="0" tIns="27093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 cap="all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-2026-</a:t>
            </a:r>
          </a:p>
        </p:txBody>
      </p:sp>
      <p:pic>
        <p:nvPicPr>
          <p:cNvPr id="31" name="Picture 6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3289300" y="8407400"/>
            <a:ext cx="17805400" cy="2197100"/>
          </a:xfrm>
          <a:prstGeom prst="rect">
            <a:avLst/>
          </a:prstGeom>
        </p:spPr>
      </p:pic>
      <p:pic>
        <p:nvPicPr>
          <p:cNvPr id="32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300" y="9575800"/>
            <a:ext cx="17805400" cy="38100"/>
          </a:xfrm>
          <a:prstGeom prst="rect">
            <a:avLst/>
          </a:prstGeom>
        </p:spPr>
      </p:pic>
      <p:pic>
        <p:nvPicPr>
          <p:cNvPr id="33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737600" y="10071100"/>
            <a:ext cx="990600" cy="38100"/>
          </a:xfrm>
          <a:prstGeom prst="rect">
            <a:avLst/>
          </a:prstGeom>
        </p:spPr>
      </p:pic>
      <p:pic>
        <p:nvPicPr>
          <p:cNvPr id="34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668500" y="10071100"/>
            <a:ext cx="977900" cy="38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2B664478-2239-4892-B7C4-7258AA5088D0}"/>
              </a:ext>
            </a:extLst>
          </p:cNvPr>
          <p:cNvSpPr>
            <a:spLocks noGrp="1"/>
          </p:cNvSpPr>
          <p:nvPr/>
        </p:nvSpPr>
        <p:spPr>
          <a:xfrm>
            <a:off x="5041153" y="8680450"/>
            <a:ext cx="14224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이찬수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A19081-71A1-47D8-B574-9B9087B08B94}"/>
              </a:ext>
            </a:extLst>
          </p:cNvPr>
          <p:cNvSpPr>
            <a:spLocks noGrp="1"/>
          </p:cNvSpPr>
          <p:nvPr/>
        </p:nvSpPr>
        <p:spPr>
          <a:xfrm>
            <a:off x="3543300" y="9740900"/>
            <a:ext cx="30226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(E-Mail)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524A4EC-3DAE-4A2D-9984-8F1EB429A188}"/>
              </a:ext>
            </a:extLst>
          </p:cNvPr>
          <p:cNvSpPr>
            <a:spLocks noGrp="1"/>
          </p:cNvSpPr>
          <p:nvPr/>
        </p:nvSpPr>
        <p:spPr>
          <a:xfrm>
            <a:off x="9563100" y="9740900"/>
            <a:ext cx="28194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(GitHub)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DAB4D84-79A5-440D-8819-52AD0D04BFFE}"/>
              </a:ext>
            </a:extLst>
          </p:cNvPr>
          <p:cNvSpPr>
            <a:spLocks noGrp="1"/>
          </p:cNvSpPr>
          <p:nvPr/>
        </p:nvSpPr>
        <p:spPr>
          <a:xfrm>
            <a:off x="15367000" y="9740900"/>
            <a:ext cx="28194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(Tel)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5AE1761-365A-4239-8420-B684C833C788}"/>
              </a:ext>
            </a:extLst>
          </p:cNvPr>
          <p:cNvSpPr>
            <a:spLocks noGrp="1"/>
          </p:cNvSpPr>
          <p:nvPr/>
        </p:nvSpPr>
        <p:spPr>
          <a:xfrm>
            <a:off x="4572000" y="10096500"/>
            <a:ext cx="38100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  <a:hlinkClick r:id="rId10"/>
              </a:rPr>
              <a:t>coldwater1346@</a:t>
            </a:r>
            <a:r>
              <a:rPr sz="2133">
                <a:solidFill>
                  <a:srgbClr val="000000"/>
                </a:solidFill>
                <a:latin typeface="Arial"/>
                <a:ea typeface="Arial"/>
                <a:cs typeface="Arial"/>
                <a:hlinkClick r:id="rId10"/>
              </a:rPr>
              <a:t>gmail</a:t>
            </a: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  <a:hlinkClick r:id="rId10"/>
              </a:rPr>
              <a:t>.com</a:t>
            </a:r>
            <a:endParaRPr sz="2133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98B52FA-2AA4-4C95-A7EB-631620C12A61}"/>
              </a:ext>
            </a:extLst>
          </p:cNvPr>
          <p:cNvSpPr>
            <a:spLocks noGrp="1"/>
          </p:cNvSpPr>
          <p:nvPr/>
        </p:nvSpPr>
        <p:spPr>
          <a:xfrm>
            <a:off x="16103600" y="10071100"/>
            <a:ext cx="38100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010-5122-9478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BCC0841-8713-454C-92EE-C55A9214863A}"/>
              </a:ext>
            </a:extLst>
          </p:cNvPr>
          <p:cNvSpPr>
            <a:spLocks noGrp="1"/>
          </p:cNvSpPr>
          <p:nvPr/>
        </p:nvSpPr>
        <p:spPr>
          <a:xfrm>
            <a:off x="3543300" y="8699500"/>
            <a:ext cx="30226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(Name)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861A1D5-1348-4D72-A817-9B279A1D157E}"/>
              </a:ext>
            </a:extLst>
          </p:cNvPr>
          <p:cNvSpPr>
            <a:spLocks noGrp="1"/>
          </p:cNvSpPr>
          <p:nvPr/>
        </p:nvSpPr>
        <p:spPr>
          <a:xfrm>
            <a:off x="6172200" y="4127500"/>
            <a:ext cx="12052300" cy="1930400"/>
          </a:xfrm>
          <a:prstGeom prst="rect">
            <a:avLst/>
          </a:prstGeom>
        </p:spPr>
        <p:txBody>
          <a:bodyPr lIns="0" tIns="135467" rIns="0" bIns="135467" anchor="ctr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0666" b="0" i="0" u="none" spc="-3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이찬수의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26DED82-1007-42A9-9A15-1F3D1163B102}"/>
              </a:ext>
            </a:extLst>
          </p:cNvPr>
          <p:cNvSpPr>
            <a:spLocks noGrp="1"/>
          </p:cNvSpPr>
          <p:nvPr/>
        </p:nvSpPr>
        <p:spPr>
          <a:xfrm>
            <a:off x="3581400" y="5765800"/>
            <a:ext cx="17246600" cy="2400300"/>
          </a:xfrm>
          <a:prstGeom prst="rect">
            <a:avLst/>
          </a:prstGeom>
        </p:spPr>
        <p:txBody>
          <a:bodyPr lIns="0" tIns="169333" rIns="0" bIns="169333" anchor="ctr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333" b="0" i="0" u="none" spc="-3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 개발 포트폴리오</a:t>
            </a:r>
            <a:endParaRPr sz="13333" b="0" i="0" u="none" spc="-30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8186CA0-5C4D-4159-B541-F721AFF7A57D}"/>
              </a:ext>
            </a:extLst>
          </p:cNvPr>
          <p:cNvSpPr>
            <a:spLocks noGrp="1"/>
          </p:cNvSpPr>
          <p:nvPr/>
        </p:nvSpPr>
        <p:spPr>
          <a:xfrm>
            <a:off x="9537700" y="10096500"/>
            <a:ext cx="53213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  <a:hlinkClick r:id="rId11"/>
              </a:rPr>
              <a:t>https://github.com/coldwater1346-cpu</a:t>
            </a:r>
            <a:endParaRPr sz="2133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8542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40400" y="-5029200"/>
            <a:ext cx="12852400" cy="23787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62B560EF-5A75-4FEE-9F34-93CD9A118D21}"/>
              </a:ext>
            </a:extLst>
          </p:cNvPr>
          <p:cNvSpPr>
            <a:spLocks noGrp="1"/>
          </p:cNvSpPr>
          <p:nvPr/>
        </p:nvSpPr>
        <p:spPr>
          <a:xfrm>
            <a:off x="1524000" y="673100"/>
            <a:ext cx="3606800" cy="2286000"/>
          </a:xfrm>
          <a:prstGeom prst="rect">
            <a:avLst/>
          </a:prstGeom>
        </p:spPr>
        <p:txBody>
          <a:bodyPr lIns="0" tIns="160867" rIns="0" bIns="160867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666" b="0" i="0" u="none" spc="-3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pic>
        <p:nvPicPr>
          <p:cNvPr id="32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2997200"/>
            <a:ext cx="11379200" cy="8305800"/>
          </a:xfrm>
          <a:prstGeom prst="rect">
            <a:avLst/>
          </a:prstGeom>
        </p:spPr>
      </p:pic>
      <p:pic>
        <p:nvPicPr>
          <p:cNvPr id="33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038600"/>
            <a:ext cx="10058400" cy="63500"/>
          </a:xfrm>
          <a:prstGeom prst="rect">
            <a:avLst/>
          </a:prstGeom>
        </p:spPr>
      </p:pic>
      <p:pic>
        <p:nvPicPr>
          <p:cNvPr id="34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10871200"/>
            <a:ext cx="10058400" cy="38100"/>
          </a:xfrm>
          <a:prstGeom prst="rect">
            <a:avLst/>
          </a:prstGeom>
        </p:spPr>
      </p:pic>
      <p:pic>
        <p:nvPicPr>
          <p:cNvPr id="3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5194300"/>
            <a:ext cx="10058400" cy="38100"/>
          </a:xfrm>
          <a:prstGeom prst="rect">
            <a:avLst/>
          </a:prstGeom>
        </p:spPr>
      </p:pic>
      <p:pic>
        <p:nvPicPr>
          <p:cNvPr id="36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6324600"/>
            <a:ext cx="10058400" cy="38100"/>
          </a:xfrm>
          <a:prstGeom prst="rect">
            <a:avLst/>
          </a:prstGeom>
        </p:spPr>
      </p:pic>
      <p:pic>
        <p:nvPicPr>
          <p:cNvPr id="37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7467600"/>
            <a:ext cx="10058400" cy="38100"/>
          </a:xfrm>
          <a:prstGeom prst="rect">
            <a:avLst/>
          </a:prstGeom>
        </p:spPr>
      </p:pic>
      <p:pic>
        <p:nvPicPr>
          <p:cNvPr id="38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8610600"/>
            <a:ext cx="10058400" cy="381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8B7B5D8-9BC1-4A8B-9E56-B89C2DA7AD4B}"/>
              </a:ext>
            </a:extLst>
          </p:cNvPr>
          <p:cNvSpPr>
            <a:spLocks noGrp="1"/>
          </p:cNvSpPr>
          <p:nvPr/>
        </p:nvSpPr>
        <p:spPr>
          <a:xfrm>
            <a:off x="2057400" y="4381500"/>
            <a:ext cx="25146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자기소개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0B357EA-8D67-48FD-BD17-B87F6129F787}"/>
              </a:ext>
            </a:extLst>
          </p:cNvPr>
          <p:cNvSpPr>
            <a:spLocks noGrp="1"/>
          </p:cNvSpPr>
          <p:nvPr/>
        </p:nvSpPr>
        <p:spPr>
          <a:xfrm>
            <a:off x="2057400" y="5511800"/>
            <a:ext cx="25146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쉴드&amp;샷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14BDD1F-B6C3-449B-80AD-4BC3AD0A7106}"/>
              </a:ext>
            </a:extLst>
          </p:cNvPr>
          <p:cNvSpPr>
            <a:spLocks noGrp="1"/>
          </p:cNvSpPr>
          <p:nvPr/>
        </p:nvSpPr>
        <p:spPr>
          <a:xfrm>
            <a:off x="5651500" y="5549900"/>
            <a:ext cx="62865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하이퍼 캐주얼(Hyper Casual) / 물리 액션 디펜스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5C24A6A-68AF-48CC-9CD5-B5BA2D729D0C}"/>
              </a:ext>
            </a:extLst>
          </p:cNvPr>
          <p:cNvSpPr>
            <a:spLocks noGrp="1"/>
          </p:cNvSpPr>
          <p:nvPr/>
        </p:nvSpPr>
        <p:spPr>
          <a:xfrm>
            <a:off x="2057400" y="6692900"/>
            <a:ext cx="24638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니르바나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B3B31FA-2269-4569-A454-9379AC690FE0}"/>
              </a:ext>
            </a:extLst>
          </p:cNvPr>
          <p:cNvSpPr>
            <a:spLocks noGrp="1"/>
          </p:cNvSpPr>
          <p:nvPr/>
        </p:nvSpPr>
        <p:spPr>
          <a:xfrm>
            <a:off x="5651500" y="6705600"/>
            <a:ext cx="62865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3인칭 액션 로그라이트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C53F043-D5F6-4CEA-894A-DBB450A81C3F}"/>
              </a:ext>
            </a:extLst>
          </p:cNvPr>
          <p:cNvSpPr>
            <a:spLocks noGrp="1"/>
          </p:cNvSpPr>
          <p:nvPr/>
        </p:nvSpPr>
        <p:spPr>
          <a:xfrm>
            <a:off x="2057400" y="7785100"/>
            <a:ext cx="25146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사이버펑커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A9AA0A1-127E-4CCD-9687-782393A0A987}"/>
              </a:ext>
            </a:extLst>
          </p:cNvPr>
          <p:cNvSpPr>
            <a:spLocks noGrp="1"/>
          </p:cNvSpPr>
          <p:nvPr/>
        </p:nvSpPr>
        <p:spPr>
          <a:xfrm>
            <a:off x="5651500" y="7823200"/>
            <a:ext cx="62865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TPS기반 방 탈출  / 잠입 액션 게임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1E64CC7-1FA2-4120-9BFD-3D0D2525B6BF}"/>
              </a:ext>
            </a:extLst>
          </p:cNvPr>
          <p:cNvSpPr>
            <a:spLocks noGrp="1"/>
          </p:cNvSpPr>
          <p:nvPr/>
        </p:nvSpPr>
        <p:spPr>
          <a:xfrm>
            <a:off x="2057400" y="8966200"/>
            <a:ext cx="25146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43416DB-FB0C-4834-B257-3D1CB923640A}"/>
              </a:ext>
            </a:extLst>
          </p:cNvPr>
          <p:cNvSpPr>
            <a:spLocks noGrp="1"/>
          </p:cNvSpPr>
          <p:nvPr/>
        </p:nvSpPr>
        <p:spPr>
          <a:xfrm>
            <a:off x="5651500" y="8953500"/>
            <a:ext cx="6286500" cy="13970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2865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미니게임 제작(3D 슈팅게임 / 2D rpg게임)</a:t>
            </a:r>
          </a:p>
          <a:p>
            <a:pPr marL="342900" lvl="1" indent="-342900" algn="l">
              <a:lnSpc>
                <a:spcPct val="12865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AI기술 퀴즈 러너 게임</a:t>
            </a:r>
          </a:p>
          <a:p>
            <a:pPr marL="342900" lvl="1" indent="-342900" algn="l">
              <a:lnSpc>
                <a:spcPct val="12865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유니티 엔진을 활용한 공공기관 메타버스 기획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EB22759-A2CB-4A48-B704-A62A3360AB85}"/>
              </a:ext>
            </a:extLst>
          </p:cNvPr>
          <p:cNvSpPr>
            <a:spLocks noGrp="1"/>
          </p:cNvSpPr>
          <p:nvPr/>
        </p:nvSpPr>
        <p:spPr>
          <a:xfrm>
            <a:off x="14782800" y="4635500"/>
            <a:ext cx="2641600" cy="2006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프로젝트 소개
2. 주요 구현 내용
3. 문제해결 경험
4. 프로젝트 결과</a:t>
            </a:r>
          </a:p>
        </p:txBody>
      </p:sp>
      <p:pic>
        <p:nvPicPr>
          <p:cNvPr id="49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92300" y="4076700"/>
            <a:ext cx="6121400" cy="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4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62662FC-D7BF-4394-9CE6-ECB006D9FC76}"/>
              </a:ext>
            </a:extLst>
          </p:cNvPr>
          <p:cNvSpPr>
            <a:spLocks noGrp="1"/>
          </p:cNvSpPr>
          <p:nvPr/>
        </p:nvSpPr>
        <p:spPr>
          <a:xfrm>
            <a:off x="3213100" y="6502400"/>
            <a:ext cx="4648200" cy="2006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이찬수</a:t>
            </a: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2000.12.27</a:t>
            </a: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010-5122-9478</a:t>
            </a: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coldwater1346@gmail.com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2B7B110-8F61-43E6-BBE9-4FF5C41E2630}"/>
              </a:ext>
            </a:extLst>
          </p:cNvPr>
          <p:cNvSpPr>
            <a:spLocks noGrp="1"/>
          </p:cNvSpPr>
          <p:nvPr/>
        </p:nvSpPr>
        <p:spPr>
          <a:xfrm>
            <a:off x="1701800" y="6527800"/>
            <a:ext cx="1485900" cy="1993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이름</a:t>
            </a:r>
          </a:p>
          <a:p>
            <a:pPr lvl="0" algn="l">
              <a:lnSpc>
                <a:spcPct val="1494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생년월일</a:t>
            </a:r>
          </a:p>
          <a:p>
            <a:pPr lvl="0" algn="l">
              <a:lnSpc>
                <a:spcPct val="1494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연락처</a:t>
            </a:r>
          </a:p>
          <a:p>
            <a:pPr lvl="0" algn="l">
              <a:lnSpc>
                <a:spcPct val="1494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E-mail</a:t>
            </a:r>
          </a:p>
        </p:txBody>
      </p:sp>
      <p:pic>
        <p:nvPicPr>
          <p:cNvPr id="43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800" y="6426200"/>
            <a:ext cx="61214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F7D1044-14CB-4FEF-A4B2-5E9CB9DDFCF9}"/>
              </a:ext>
            </a:extLst>
          </p:cNvPr>
          <p:cNvSpPr>
            <a:spLocks noGrp="1"/>
          </p:cNvSpPr>
          <p:nvPr/>
        </p:nvSpPr>
        <p:spPr>
          <a:xfrm>
            <a:off x="1701800" y="5842000"/>
            <a:ext cx="22098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(Profile)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122098-0954-4426-817D-FB6D0A197703}"/>
              </a:ext>
            </a:extLst>
          </p:cNvPr>
          <p:cNvSpPr>
            <a:spLocks noGrp="1"/>
          </p:cNvSpPr>
          <p:nvPr/>
        </p:nvSpPr>
        <p:spPr>
          <a:xfrm>
            <a:off x="3213100" y="10375900"/>
            <a:ext cx="4648200" cy="1498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용인고등학교 졸업</a:t>
            </a:r>
            <a:endParaRPr sz="2400" b="0" i="0" u="none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평택대학교  ICT융합학부</a:t>
            </a:r>
            <a:endParaRPr sz="2400" b="0" i="0" u="none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스마트콘텐츠 전공 졸업</a:t>
            </a:r>
            <a:endParaRPr sz="2400" b="0" i="0" u="none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00D2A5-106F-48CB-9B31-4E47CDFAE477}"/>
              </a:ext>
            </a:extLst>
          </p:cNvPr>
          <p:cNvSpPr>
            <a:spLocks noGrp="1"/>
          </p:cNvSpPr>
          <p:nvPr/>
        </p:nvSpPr>
        <p:spPr>
          <a:xfrm>
            <a:off x="1739900" y="10312400"/>
            <a:ext cx="14859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2019.02</a:t>
            </a:r>
          </a:p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pic>
        <p:nvPicPr>
          <p:cNvPr id="47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0" y="10058400"/>
            <a:ext cx="6121400" cy="38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FC6F1393-4FEB-4BD3-992D-92D3252829DB}"/>
              </a:ext>
            </a:extLst>
          </p:cNvPr>
          <p:cNvSpPr>
            <a:spLocks noGrp="1"/>
          </p:cNvSpPr>
          <p:nvPr/>
        </p:nvSpPr>
        <p:spPr>
          <a:xfrm>
            <a:off x="1739900" y="9499600"/>
            <a:ext cx="22098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(Education)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CCCAD00-62A3-4A75-B883-B3B2E424AC29}"/>
              </a:ext>
            </a:extLst>
          </p:cNvPr>
          <p:cNvSpPr>
            <a:spLocks noGrp="1"/>
          </p:cNvSpPr>
          <p:nvPr/>
        </p:nvSpPr>
        <p:spPr>
          <a:xfrm>
            <a:off x="1701800" y="4064000"/>
            <a:ext cx="118745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게임을 좋아하는 마음으로 시작해, 직접 새로운 게임 세계를 만들기 위해 게임 개발자에 도전했습니다.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아이디어를 현실로 구현하며 독창적인 게임 세계를 만들어내는 개발자가 되고 싶습니다.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C0237B-D3A7-4583-A7CF-45C6AA137C33}"/>
              </a:ext>
            </a:extLst>
          </p:cNvPr>
          <p:cNvSpPr>
            <a:spLocks noGrp="1"/>
          </p:cNvSpPr>
          <p:nvPr/>
        </p:nvSpPr>
        <p:spPr>
          <a:xfrm>
            <a:off x="1676400" y="3111500"/>
            <a:ext cx="8661400" cy="749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40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안녕하세요. 이찬수입니다.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1CB4D8F-7BDF-487E-86E9-229DE7007878}"/>
              </a:ext>
            </a:extLst>
          </p:cNvPr>
          <p:cNvSpPr>
            <a:spLocks noGrp="1"/>
          </p:cNvSpPr>
          <p:nvPr/>
        </p:nvSpPr>
        <p:spPr>
          <a:xfrm>
            <a:off x="1701800" y="901700"/>
            <a:ext cx="5842000" cy="2006600"/>
          </a:xfrm>
          <a:prstGeom prst="rect">
            <a:avLst/>
          </a:prstGeom>
        </p:spPr>
        <p:txBody>
          <a:bodyPr lIns="0" tIns="244959" rIns="0" bIns="244959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078" b="0" i="0" u="none" spc="-3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자기소개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DFA5CD0-1ED3-4F17-9505-EBC385D0336E}"/>
              </a:ext>
            </a:extLst>
          </p:cNvPr>
          <p:cNvSpPr>
            <a:spLocks noGrp="1"/>
          </p:cNvSpPr>
          <p:nvPr/>
        </p:nvSpPr>
        <p:spPr>
          <a:xfrm>
            <a:off x="16014700" y="87630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AI메타코딩 아카데미 2기  Unity과정  멘토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1D38C89-882D-4D81-B752-49B25ED1F524}"/>
              </a:ext>
            </a:extLst>
          </p:cNvPr>
          <p:cNvSpPr>
            <a:spLocks noGrp="1"/>
          </p:cNvSpPr>
          <p:nvPr/>
        </p:nvSpPr>
        <p:spPr>
          <a:xfrm>
            <a:off x="13449300" y="87757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2024.05</a:t>
            </a:r>
          </a:p>
        </p:txBody>
      </p:sp>
      <p:pic>
        <p:nvPicPr>
          <p:cNvPr id="54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9300" y="8077200"/>
            <a:ext cx="90424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80C64255-95F7-4091-A37B-AE340922929F}"/>
              </a:ext>
            </a:extLst>
          </p:cNvPr>
          <p:cNvSpPr>
            <a:spLocks noGrp="1"/>
          </p:cNvSpPr>
          <p:nvPr/>
        </p:nvSpPr>
        <p:spPr>
          <a:xfrm>
            <a:off x="13449300" y="7493000"/>
            <a:ext cx="2692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교내 및 대외 활동</a:t>
            </a:r>
          </a:p>
        </p:txBody>
      </p:sp>
      <p:pic>
        <p:nvPicPr>
          <p:cNvPr id="56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6100" y="838200"/>
            <a:ext cx="5511800" cy="64770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D94093C3-89ED-4E36-9B64-4BCE07B5C639}"/>
              </a:ext>
            </a:extLst>
          </p:cNvPr>
          <p:cNvSpPr>
            <a:spLocks noGrp="1"/>
          </p:cNvSpPr>
          <p:nvPr/>
        </p:nvSpPr>
        <p:spPr>
          <a:xfrm>
            <a:off x="16014700" y="100711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AI메타코딩 아카데미 3기 멘토 및 보조 연구원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C1B64C6-2C45-4D23-9A0C-39CC5D0B50E4}"/>
              </a:ext>
            </a:extLst>
          </p:cNvPr>
          <p:cNvSpPr>
            <a:spLocks noGrp="1"/>
          </p:cNvSpPr>
          <p:nvPr/>
        </p:nvSpPr>
        <p:spPr>
          <a:xfrm>
            <a:off x="16014700" y="108331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2025 지속가능발전을 위한 대학혁신포럼 참가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F5A9882-C3F6-412F-8B9E-0ADDC85FCE6F}"/>
              </a:ext>
            </a:extLst>
          </p:cNvPr>
          <p:cNvSpPr>
            <a:spLocks noGrp="1"/>
          </p:cNvSpPr>
          <p:nvPr/>
        </p:nvSpPr>
        <p:spPr>
          <a:xfrm>
            <a:off x="13449300" y="100076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E46C175-BBD4-4ABA-8655-7D22BA91E389}"/>
              </a:ext>
            </a:extLst>
          </p:cNvPr>
          <p:cNvSpPr>
            <a:spLocks noGrp="1"/>
          </p:cNvSpPr>
          <p:nvPr/>
        </p:nvSpPr>
        <p:spPr>
          <a:xfrm>
            <a:off x="13449300" y="108204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FAD7475-A091-436C-8810-EC199078D2F2}"/>
              </a:ext>
            </a:extLst>
          </p:cNvPr>
          <p:cNvSpPr>
            <a:spLocks noGrp="1"/>
          </p:cNvSpPr>
          <p:nvPr/>
        </p:nvSpPr>
        <p:spPr>
          <a:xfrm>
            <a:off x="13449300" y="112776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A80D88D-CA97-489D-AC43-B4141C911F7B}"/>
              </a:ext>
            </a:extLst>
          </p:cNvPr>
          <p:cNvSpPr>
            <a:spLocks noGrp="1"/>
          </p:cNvSpPr>
          <p:nvPr/>
        </p:nvSpPr>
        <p:spPr>
          <a:xfrm>
            <a:off x="16014700" y="112649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AI를 활용한 차세대 스마트 게임 개발자 양성과정 이수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D395B85-A6A7-431D-88E1-C594885AA604}"/>
              </a:ext>
            </a:extLst>
          </p:cNvPr>
          <p:cNvSpPr>
            <a:spLocks noGrp="1"/>
          </p:cNvSpPr>
          <p:nvPr/>
        </p:nvSpPr>
        <p:spPr>
          <a:xfrm>
            <a:off x="13449300" y="83693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2023.09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2F1301D-6AF6-4A75-B6AC-19813C339D42}"/>
              </a:ext>
            </a:extLst>
          </p:cNvPr>
          <p:cNvSpPr>
            <a:spLocks noGrp="1"/>
          </p:cNvSpPr>
          <p:nvPr/>
        </p:nvSpPr>
        <p:spPr>
          <a:xfrm>
            <a:off x="16014700" y="83693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AI메타코딩 아카데미 1기 Unity과정  이수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D378D34-2FFE-46D0-BAB2-4537EB9DE8C2}"/>
              </a:ext>
            </a:extLst>
          </p:cNvPr>
          <p:cNvSpPr>
            <a:spLocks noGrp="1"/>
          </p:cNvSpPr>
          <p:nvPr/>
        </p:nvSpPr>
        <p:spPr>
          <a:xfrm>
            <a:off x="16014700" y="91948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반도체 장비엔지니어링 트랙 초·중급 교육과정 이수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54D90FA-1ADA-4A43-95E5-27B257F1AF96}"/>
              </a:ext>
            </a:extLst>
          </p:cNvPr>
          <p:cNvSpPr>
            <a:spLocks noGrp="1"/>
          </p:cNvSpPr>
          <p:nvPr/>
        </p:nvSpPr>
        <p:spPr>
          <a:xfrm>
            <a:off x="13449300" y="91948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2025.01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CBE5C4F-ECCA-4529-9260-E2B99EA40BA2}"/>
              </a:ext>
            </a:extLst>
          </p:cNvPr>
          <p:cNvSpPr>
            <a:spLocks noGrp="1"/>
          </p:cNvSpPr>
          <p:nvPr/>
        </p:nvSpPr>
        <p:spPr>
          <a:xfrm>
            <a:off x="13449300" y="96139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2025.09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B079606-0868-4B05-B63D-2AD1C665D691}"/>
              </a:ext>
            </a:extLst>
          </p:cNvPr>
          <p:cNvSpPr>
            <a:spLocks noGrp="1"/>
          </p:cNvSpPr>
          <p:nvPr/>
        </p:nvSpPr>
        <p:spPr>
          <a:xfrm>
            <a:off x="16014700" y="96393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평택시 AI일상화를 위한 시민교육-고급과정 이수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EA6113E-D5D9-410B-9626-3E9EAAE360DF}"/>
              </a:ext>
            </a:extLst>
          </p:cNvPr>
          <p:cNvSpPr>
            <a:spLocks noGrp="1"/>
          </p:cNvSpPr>
          <p:nvPr/>
        </p:nvSpPr>
        <p:spPr>
          <a:xfrm>
            <a:off x="13449300" y="104394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B30D7CC-496E-4056-B0C0-8993FA3521A7}"/>
              </a:ext>
            </a:extLst>
          </p:cNvPr>
          <p:cNvSpPr>
            <a:spLocks noGrp="1"/>
          </p:cNvSpPr>
          <p:nvPr/>
        </p:nvSpPr>
        <p:spPr>
          <a:xfrm>
            <a:off x="16014700" y="104521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정보처리기사 자격증 취득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1C30210-939C-4014-85E7-065ACDBCC59A}"/>
              </a:ext>
            </a:extLst>
          </p:cNvPr>
          <p:cNvSpPr>
            <a:spLocks noGrp="1"/>
          </p:cNvSpPr>
          <p:nvPr/>
        </p:nvSpPr>
        <p:spPr>
          <a:xfrm>
            <a:off x="13449300" y="117348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FCC0F6C-DB0B-418C-82EB-5EB63AB33154}"/>
              </a:ext>
            </a:extLst>
          </p:cNvPr>
          <p:cNvSpPr>
            <a:spLocks noGrp="1"/>
          </p:cNvSpPr>
          <p:nvPr/>
        </p:nvSpPr>
        <p:spPr>
          <a:xfrm>
            <a:off x="16014700" y="117348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BEAVER ROCKS 2026 공모전 참가</a:t>
            </a:r>
          </a:p>
        </p:txBody>
      </p:sp>
    </p:spTree>
    <p:extLst>
      <p:ext uri="{BB962C8B-B14F-4D97-AF65-F5344CB8AC3E}">
        <p14:creationId xmlns:p14="http://schemas.microsoft.com/office/powerpoint/2010/main" val="147311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19785"/>
            <a:ext cx="12852400" cy="23533100"/>
          </a:xfrm>
          <a:prstGeom prst="rect">
            <a:avLst/>
          </a:prstGeom>
        </p:spPr>
      </p:pic>
      <p:pic>
        <p:nvPicPr>
          <p:cNvPr id="2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2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9999">
            <a:off x="7251700" y="7607300"/>
            <a:ext cx="10096500" cy="38100"/>
          </a:xfrm>
          <a:prstGeom prst="rect">
            <a:avLst/>
          </a:prstGeom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1100" y="6273800"/>
            <a:ext cx="10185400" cy="38100"/>
          </a:xfrm>
          <a:prstGeom prst="rect">
            <a:avLst/>
          </a:prstGeom>
        </p:spPr>
      </p:pic>
      <p:pic>
        <p:nvPicPr>
          <p:cNvPr id="24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1100" y="8674100"/>
            <a:ext cx="10185400" cy="38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1AFD48E-7F71-40D9-8ADA-8CA4F1AD6A92}"/>
              </a:ext>
            </a:extLst>
          </p:cNvPr>
          <p:cNvSpPr>
            <a:spLocks noGrp="1"/>
          </p:cNvSpPr>
          <p:nvPr/>
        </p:nvSpPr>
        <p:spPr>
          <a:xfrm>
            <a:off x="12560300" y="2489200"/>
            <a:ext cx="9766300" cy="3568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 명 : Shield &amp; Shot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장르 : 하이퍼 캐주얼 / 물리 액션 디펜스 게임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기간 : 2026.06.04~07.07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인원 : 6인 팀 프로젝트 (개발 5명 /QA 1명)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환경 : Unity 6000.3.6f1 / C# / Photon Engine / 뒤끝 SDK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실행 환경: 윈도우 / 안드로이드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662EAC6-7B9D-48F8-99C7-77837946471F}"/>
              </a:ext>
            </a:extLst>
          </p:cNvPr>
          <p:cNvSpPr>
            <a:spLocks noGrp="1"/>
          </p:cNvSpPr>
          <p:nvPr/>
        </p:nvSpPr>
        <p:spPr>
          <a:xfrm>
            <a:off x="12700000" y="64008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간략 소개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88279D-D8B3-425C-9C55-344F3311F2C9}"/>
              </a:ext>
            </a:extLst>
          </p:cNvPr>
          <p:cNvSpPr>
            <a:spLocks noGrp="1"/>
          </p:cNvSpPr>
          <p:nvPr/>
        </p:nvSpPr>
        <p:spPr>
          <a:xfrm>
            <a:off x="12700000" y="7137400"/>
            <a:ext cx="97663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방패로 적의 공격을 막고, 무기의 투사체를 발사해 반격하는 물리 기반 액션 게임
가챠를 통해 다양한 특성의 아이템을 획득하고 강화·합성하여 성장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CC2F7C-6C19-4EC5-A49F-FA9619E5B2AA}"/>
              </a:ext>
            </a:extLst>
          </p:cNvPr>
          <p:cNvSpPr>
            <a:spLocks noGrp="1"/>
          </p:cNvSpPr>
          <p:nvPr/>
        </p:nvSpPr>
        <p:spPr>
          <a:xfrm>
            <a:off x="12700000" y="8978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 담당 개발 파트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F24281E-1E81-41B6-B1ED-689068B03596}"/>
              </a:ext>
            </a:extLst>
          </p:cNvPr>
          <p:cNvSpPr>
            <a:spLocks noGrp="1"/>
          </p:cNvSpPr>
          <p:nvPr/>
        </p:nvSpPr>
        <p:spPr>
          <a:xfrm>
            <a:off x="12700000" y="9829800"/>
            <a:ext cx="9766300" cy="25273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로그인 / 회원가입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 데이터 관리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 구조 설계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인벤토리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가챠 시스템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67A3CE2-5F2D-4FE0-845C-F827A8603B02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소개</a:t>
            </a:r>
          </a:p>
        </p:txBody>
      </p:sp>
      <p:pic>
        <p:nvPicPr>
          <p:cNvPr id="31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2100" y="1943100"/>
            <a:ext cx="6781800" cy="11366500"/>
          </a:xfrm>
          <a:prstGeom prst="rect">
            <a:avLst/>
          </a:prstGeom>
        </p:spPr>
      </p:pic>
      <p:pic>
        <p:nvPicPr>
          <p:cNvPr id="32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0" y="2159000"/>
            <a:ext cx="6210300" cy="1098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8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374900"/>
            <a:ext cx="10833100" cy="21717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4DC767B-D61B-4670-A0E9-71454C5B088F}"/>
              </a:ext>
            </a:extLst>
          </p:cNvPr>
          <p:cNvSpPr>
            <a:spLocks noGrp="1"/>
          </p:cNvSpPr>
          <p:nvPr/>
        </p:nvSpPr>
        <p:spPr>
          <a:xfrm>
            <a:off x="12687300" y="25400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인증 방식 분리 - 전략 패턴 적용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484843-233B-4573-A2A3-3F05AADDEA81}"/>
              </a:ext>
            </a:extLst>
          </p:cNvPr>
          <p:cNvSpPr>
            <a:spLocks noGrp="1"/>
          </p:cNvSpPr>
          <p:nvPr/>
        </p:nvSpPr>
        <p:spPr>
          <a:xfrm>
            <a:off x="12687300" y="32639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커스텀·게스트·GPGS 인증을 ILoginStrategy로 추상화
UI는 선택한 전략만 전달하고, SDK 호출과 인증 세부 과정은 각 전략 클래스가 담당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A8F7BD-4157-4629-A570-9CEF95F15F4B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내용1</a:t>
            </a:r>
            <a:endParaRPr sz="5600" b="0" i="0" u="none" spc="-200">
              <a:solidFill>
                <a:srgbClr val="000000"/>
              </a:solidFill>
              <a:latin typeface="Montserrat Regular"/>
              <a:ea typeface="Montserrat Regular"/>
              <a:cs typeface="Montserrat Regula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261381A-28C9-4A0B-9F88-EB569233516C}"/>
              </a:ext>
            </a:extLst>
          </p:cNvPr>
          <p:cNvSpPr>
            <a:spLocks noGrp="1"/>
          </p:cNvSpPr>
          <p:nvPr/>
        </p:nvSpPr>
        <p:spPr>
          <a:xfrm>
            <a:off x="6032500" y="116205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-로그인 시스템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5200" y="4787900"/>
            <a:ext cx="10833100" cy="27432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5F642318-0E5E-43D3-AE13-9C17D28B69C9}"/>
              </a:ext>
            </a:extLst>
          </p:cNvPr>
          <p:cNvSpPr>
            <a:spLocks noGrp="1"/>
          </p:cNvSpPr>
          <p:nvPr/>
        </p:nvSpPr>
        <p:spPr>
          <a:xfrm>
            <a:off x="12700000" y="49530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공통 로그인 파이프라인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49EE6A2-9E4D-407A-98B1-3E94D4B32F1D}"/>
              </a:ext>
            </a:extLst>
          </p:cNvPr>
          <p:cNvSpPr>
            <a:spLocks noGrp="1"/>
          </p:cNvSpPr>
          <p:nvPr/>
        </p:nvSpPr>
        <p:spPr>
          <a:xfrm>
            <a:off x="12700000" y="5562600"/>
            <a:ext cx="9880600" cy="182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LoginCoordinator에서 중복 요청, 로딩 UI, 성공·실패 결과를 공통 처리
 인증 성공 후에는 PostLoginInitializer에서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 Chart 로드 → UserData 로드→ 아이템 데이터 / 인벤토리 순으로 초기화한 뒤 게임 진입</a:t>
            </a:r>
          </a:p>
        </p:txBody>
      </p:sp>
      <p:pic>
        <p:nvPicPr>
          <p:cNvPr id="3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5200" y="7772400"/>
            <a:ext cx="10833100" cy="53340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2EBCA9C2-03DE-47C5-9741-1FDC5930721B}"/>
              </a:ext>
            </a:extLst>
          </p:cNvPr>
          <p:cNvSpPr>
            <a:spLocks noGrp="1"/>
          </p:cNvSpPr>
          <p:nvPr/>
        </p:nvSpPr>
        <p:spPr>
          <a:xfrm>
            <a:off x="12700000" y="79375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GPGS O</a:t>
            </a: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auth</a:t>
            </a: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 직접 연동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BB1ED25-BBB6-423A-BDBB-7D1955D79648}"/>
              </a:ext>
            </a:extLst>
          </p:cNvPr>
          <p:cNvSpPr>
            <a:spLocks noGrp="1"/>
          </p:cNvSpPr>
          <p:nvPr/>
        </p:nvSpPr>
        <p:spPr>
          <a:xfrm>
            <a:off x="12700000" y="8788400"/>
            <a:ext cx="10655300" cy="4114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뒤끝 SDK의 GPGS 페더레이션 로그인 API에 의존하지 않고, 
GPGS에서 발급받은 Server Auth Code를 Server Function으로 전달 인증 흐름 구현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Server Function에서 Google OAuth 서버와 직접 통신해 토큰 교환, 
Google의 고유 사용자 식별자를 기반으로  뒤끝 커스텀 계정 연동 정보를 생성
OAuth 공급자와의 토큰 교환 및 사용자 식별 과정을 서버에 배치해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클라이언트와 외부 인증 로직을 분리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이를 통해 향후 다른 OAuth 공급자의 인증 로직 또한 확장 기반 마련</a:t>
            </a:r>
          </a:p>
        </p:txBody>
      </p:sp>
      <p:pic>
        <p:nvPicPr>
          <p:cNvPr id="3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1100" y="1993900"/>
            <a:ext cx="3606800" cy="6248400"/>
          </a:xfrm>
          <a:prstGeom prst="rect">
            <a:avLst/>
          </a:prstGeom>
        </p:spPr>
      </p:pic>
      <p:pic>
        <p:nvPicPr>
          <p:cNvPr id="3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39700" y="1790700"/>
            <a:ext cx="9347200" cy="139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6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5DB1D4A2-3176-4018-B29C-5E6498A3CA9D}"/>
              </a:ext>
            </a:extLst>
          </p:cNvPr>
          <p:cNvSpPr>
            <a:spLocks noGrp="1"/>
          </p:cNvSpPr>
          <p:nvPr/>
        </p:nvSpPr>
        <p:spPr>
          <a:xfrm>
            <a:off x="863600" y="40386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Flyweight Pattern 적용한 Scriptable Object 구조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293BC43-ED2F-40A2-A841-E01473E59B48}"/>
              </a:ext>
            </a:extLst>
          </p:cNvPr>
          <p:cNvSpPr>
            <a:spLocks noGrp="1"/>
          </p:cNvSpPr>
          <p:nvPr/>
        </p:nvSpPr>
        <p:spPr>
          <a:xfrm>
            <a:off x="927100" y="5232400"/>
            <a:ext cx="9461500" cy="1498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ItemData를 ItemID 기반 Dictionary에 등록하고,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동일 종류의 아이템 인스턴스가 이를 공유하도록 구성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공유 가능한 내부 상태와 유저별 외부 상태를 분리하여 데이터 중복 감소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072AE06-96E8-4CC5-8AFF-AB188220617F}"/>
              </a:ext>
            </a:extLst>
          </p:cNvPr>
          <p:cNvSpPr>
            <a:spLocks noGrp="1"/>
          </p:cNvSpPr>
          <p:nvPr/>
        </p:nvSpPr>
        <p:spPr>
          <a:xfrm>
            <a:off x="927100" y="9855200"/>
            <a:ext cx="9652000" cy="1419225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이름·등급·아이콘·기본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능력치처럼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변경되지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않는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정보는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ItemData로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관리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GUID·강화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수치·장착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상태처럼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유저마다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달라지는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값은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Item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인스턴스로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분리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E261ED3-A9DA-4FB1-9DB7-49F09A0700EF}"/>
              </a:ext>
            </a:extLst>
          </p:cNvPr>
          <p:cNvSpPr>
            <a:spLocks noGrp="1"/>
          </p:cNvSpPr>
          <p:nvPr/>
        </p:nvSpPr>
        <p:spPr>
          <a:xfrm>
            <a:off x="927100" y="8534400"/>
            <a:ext cx="94361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추상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Item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클래스에서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관리하고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무기와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방패의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고유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및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WeaponItem과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ShieldItem으로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확장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2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2C8CA5BF-5C23-4388-A649-5B26FD0D0623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4CD9D5C-274F-44D5-8598-4DADA1CD2E11}"/>
              </a:ext>
            </a:extLst>
          </p:cNvPr>
          <p:cNvSpPr>
            <a:spLocks noGrp="1"/>
          </p:cNvSpPr>
          <p:nvPr/>
        </p:nvSpPr>
        <p:spPr>
          <a:xfrm>
            <a:off x="5702300" y="1162797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-아이템 구조 설계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5EE4366-B659-4D3C-8E67-B918A2E8D09C}"/>
              </a:ext>
            </a:extLst>
          </p:cNvPr>
          <p:cNvSpPr>
            <a:spLocks noGrp="1"/>
          </p:cNvSpPr>
          <p:nvPr/>
        </p:nvSpPr>
        <p:spPr>
          <a:xfrm>
            <a:off x="863600" y="77216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다형성을 통한 장비 확장</a:t>
            </a:r>
          </a:p>
        </p:txBody>
      </p:sp>
      <p:pic>
        <p:nvPicPr>
          <p:cNvPr id="25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100" y="3009900"/>
            <a:ext cx="12877800" cy="9626600"/>
          </a:xfrm>
          <a:prstGeom prst="rect">
            <a:avLst/>
          </a:prstGeom>
        </p:spPr>
      </p:pic>
      <p:pic>
        <p:nvPicPr>
          <p:cNvPr id="26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7700" y="3632200"/>
            <a:ext cx="4838700" cy="4241800"/>
          </a:xfrm>
          <a:prstGeom prst="rect">
            <a:avLst/>
          </a:prstGeom>
        </p:spPr>
      </p:pic>
      <p:pic>
        <p:nvPicPr>
          <p:cNvPr id="27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63600" y="3365500"/>
            <a:ext cx="9690100" cy="911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8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849446"/>
            <a:ext cx="12852400" cy="23533100"/>
          </a:xfrm>
          <a:prstGeom prst="rect">
            <a:avLst/>
          </a:prstGeom>
        </p:spPr>
      </p:pic>
      <p:pic>
        <p:nvPicPr>
          <p:cNvPr id="7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5632DE0-A7BD-4FA9-8BE0-F9276C554738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내용3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917BD23-7FED-45CB-AE92-E4F6844F9E2B}"/>
              </a:ext>
            </a:extLst>
          </p:cNvPr>
          <p:cNvSpPr>
            <a:spLocks noGrp="1"/>
          </p:cNvSpPr>
          <p:nvPr/>
        </p:nvSpPr>
        <p:spPr>
          <a:xfrm>
            <a:off x="58674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-인벤토리와 가챠 시스템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7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8051800"/>
            <a:ext cx="1778000" cy="6223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04C6F81-0BF6-4FE2-B52C-0B4F49FA51D0}"/>
              </a:ext>
            </a:extLst>
          </p:cNvPr>
          <p:cNvSpPr>
            <a:spLocks noGrp="1"/>
          </p:cNvSpPr>
          <p:nvPr/>
        </p:nvSpPr>
        <p:spPr>
          <a:xfrm>
            <a:off x="1371600" y="81534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장착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61C396C-1840-4C9D-BD00-31D90952F166}"/>
              </a:ext>
            </a:extLst>
          </p:cNvPr>
          <p:cNvSpPr>
            <a:spLocks noGrp="1"/>
          </p:cNvSpPr>
          <p:nvPr/>
        </p:nvSpPr>
        <p:spPr>
          <a:xfrm>
            <a:off x="3251200" y="82042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장비 슬롯 및 실제 전투 장비에 반영</a:t>
            </a:r>
          </a:p>
        </p:txBody>
      </p:sp>
      <p:pic>
        <p:nvPicPr>
          <p:cNvPr id="7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8623300"/>
            <a:ext cx="6578600" cy="50800"/>
          </a:xfrm>
          <a:prstGeom prst="rect">
            <a:avLst/>
          </a:prstGeom>
        </p:spPr>
      </p:pic>
      <p:pic>
        <p:nvPicPr>
          <p:cNvPr id="8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000" y="8763000"/>
            <a:ext cx="1778000" cy="6223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A9BC63A-6A91-44D1-BD6A-3D1FF597E988}"/>
              </a:ext>
            </a:extLst>
          </p:cNvPr>
          <p:cNvSpPr>
            <a:spLocks noGrp="1"/>
          </p:cNvSpPr>
          <p:nvPr/>
        </p:nvSpPr>
        <p:spPr>
          <a:xfrm>
            <a:off x="1371600" y="88646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정렬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A33FAC7-D584-4FD8-AAB7-D867C6A162C1}"/>
              </a:ext>
            </a:extLst>
          </p:cNvPr>
          <p:cNvSpPr>
            <a:spLocks noGrp="1"/>
          </p:cNvSpPr>
          <p:nvPr/>
        </p:nvSpPr>
        <p:spPr>
          <a:xfrm>
            <a:off x="3251200" y="89154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장착·강화·종류·등급 기반 복합 정렬</a:t>
            </a:r>
          </a:p>
        </p:txBody>
      </p:sp>
      <p:pic>
        <p:nvPicPr>
          <p:cNvPr id="8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9334500"/>
            <a:ext cx="6578600" cy="50800"/>
          </a:xfrm>
          <a:prstGeom prst="rect">
            <a:avLst/>
          </a:prstGeom>
        </p:spPr>
      </p:pic>
      <p:pic>
        <p:nvPicPr>
          <p:cNvPr id="8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7000" y="9474200"/>
            <a:ext cx="1778000" cy="6223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446314DE-E1E9-49D0-8672-27CEDB2D5305}"/>
              </a:ext>
            </a:extLst>
          </p:cNvPr>
          <p:cNvSpPr>
            <a:spLocks noGrp="1"/>
          </p:cNvSpPr>
          <p:nvPr/>
        </p:nvSpPr>
        <p:spPr>
          <a:xfrm>
            <a:off x="1371600" y="95758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강화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EAB9F93-6E9E-4486-ABB2-A910E8241606}"/>
              </a:ext>
            </a:extLst>
          </p:cNvPr>
          <p:cNvSpPr>
            <a:spLocks noGrp="1"/>
          </p:cNvSpPr>
          <p:nvPr/>
        </p:nvSpPr>
        <p:spPr>
          <a:xfrm>
            <a:off x="3251200" y="96266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동일 아이템을 재료로 강화 수치 증가</a:t>
            </a:r>
          </a:p>
        </p:txBody>
      </p:sp>
      <p:pic>
        <p:nvPicPr>
          <p:cNvPr id="8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10045700"/>
            <a:ext cx="6578600" cy="50800"/>
          </a:xfrm>
          <a:prstGeom prst="rect">
            <a:avLst/>
          </a:prstGeom>
        </p:spPr>
      </p:pic>
      <p:pic>
        <p:nvPicPr>
          <p:cNvPr id="8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10172700"/>
            <a:ext cx="1778000" cy="6223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95984A08-E4AF-4C1C-8B27-4AB550187B1B}"/>
              </a:ext>
            </a:extLst>
          </p:cNvPr>
          <p:cNvSpPr>
            <a:spLocks noGrp="1"/>
          </p:cNvSpPr>
          <p:nvPr/>
        </p:nvSpPr>
        <p:spPr>
          <a:xfrm>
            <a:off x="1371600" y="102870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합성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6ED6B1D-504D-45F1-AFCD-CC7B70292E11}"/>
              </a:ext>
            </a:extLst>
          </p:cNvPr>
          <p:cNvSpPr>
            <a:spLocks noGrp="1"/>
          </p:cNvSpPr>
          <p:nvPr/>
        </p:nvSpPr>
        <p:spPr>
          <a:xfrm>
            <a:off x="3251200" y="10325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최대 강화 장비 2개로 상위 등급 생성</a:t>
            </a:r>
          </a:p>
        </p:txBody>
      </p:sp>
      <p:pic>
        <p:nvPicPr>
          <p:cNvPr id="9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10756900"/>
            <a:ext cx="6578600" cy="50800"/>
          </a:xfrm>
          <a:prstGeom prst="rect">
            <a:avLst/>
          </a:prstGeom>
        </p:spPr>
      </p:pic>
      <p:pic>
        <p:nvPicPr>
          <p:cNvPr id="9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10883900"/>
            <a:ext cx="1778000" cy="6223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6A9A2C9D-9BFF-4F43-BBCE-E4BE4FE58286}"/>
              </a:ext>
            </a:extLst>
          </p:cNvPr>
          <p:cNvSpPr>
            <a:spLocks noGrp="1"/>
          </p:cNvSpPr>
          <p:nvPr/>
        </p:nvSpPr>
        <p:spPr>
          <a:xfrm>
            <a:off x="1371600" y="109855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UI 연출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8E44043-6B16-492C-A141-E7EF9938AA1A}"/>
              </a:ext>
            </a:extLst>
          </p:cNvPr>
          <p:cNvSpPr>
            <a:spLocks noGrp="1"/>
          </p:cNvSpPr>
          <p:nvPr/>
        </p:nvSpPr>
        <p:spPr>
          <a:xfrm>
            <a:off x="3251200" y="110363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Render Texture 기반 3D 프리뷰 및 드래그 회전</a:t>
            </a:r>
          </a:p>
        </p:txBody>
      </p:sp>
      <p:pic>
        <p:nvPicPr>
          <p:cNvPr id="9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11455400"/>
            <a:ext cx="6578600" cy="50800"/>
          </a:xfrm>
          <a:prstGeom prst="rect">
            <a:avLst/>
          </a:prstGeom>
        </p:spPr>
      </p:pic>
      <p:pic>
        <p:nvPicPr>
          <p:cNvPr id="9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53213" y="8051800"/>
            <a:ext cx="1778000" cy="6223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524E986E-7A63-4FEC-82CD-CFFC1BCD6C78}"/>
              </a:ext>
            </a:extLst>
          </p:cNvPr>
          <p:cNvSpPr>
            <a:spLocks noGrp="1"/>
          </p:cNvSpPr>
          <p:nvPr/>
        </p:nvSpPr>
        <p:spPr>
          <a:xfrm>
            <a:off x="13427813" y="81534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 dirty="0" err="1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아이템·등급</a:t>
            </a:r>
            <a:endParaRPr sz="2000" b="0" i="0" u="none" dirty="0">
              <a:solidFill>
                <a:srgbClr val="75A96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2C0163F-AD9C-4C4C-BD2D-F03247D63209}"/>
              </a:ext>
            </a:extLst>
          </p:cNvPr>
          <p:cNvSpPr>
            <a:spLocks noGrp="1"/>
          </p:cNvSpPr>
          <p:nvPr/>
        </p:nvSpPr>
        <p:spPr>
          <a:xfrm>
            <a:off x="15294713" y="82042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가중치 확률로 아이템과 등급 결정</a:t>
            </a:r>
          </a:p>
        </p:txBody>
      </p:sp>
      <p:pic>
        <p:nvPicPr>
          <p:cNvPr id="99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8623300"/>
            <a:ext cx="6578600" cy="50800"/>
          </a:xfrm>
          <a:prstGeom prst="rect">
            <a:avLst/>
          </a:prstGeom>
        </p:spPr>
      </p:pic>
      <p:pic>
        <p:nvPicPr>
          <p:cNvPr id="10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53213" y="8763000"/>
            <a:ext cx="1778000" cy="622300"/>
          </a:xfrm>
          <a:prstGeom prst="rect">
            <a:avLst/>
          </a:prstGeom>
        </p:spPr>
      </p:pic>
      <p:sp>
        <p:nvSpPr>
          <p:cNvPr id="31" name="TextBox 31">
            <a:extLst>
              <a:ext uri="{FF2B5EF4-FFF2-40B4-BE49-F238E27FC236}">
                <a16:creationId xmlns:a16="http://schemas.microsoft.com/office/drawing/2014/main" id="{6B589490-E7F8-41DF-A4ED-8A5A7FD891EA}"/>
              </a:ext>
            </a:extLst>
          </p:cNvPr>
          <p:cNvSpPr>
            <a:spLocks noGrp="1"/>
          </p:cNvSpPr>
          <p:nvPr/>
        </p:nvSpPr>
        <p:spPr>
          <a:xfrm>
            <a:off x="13427813" y="88646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투사체 속성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D3D62CB-420A-4CA5-B391-725B260905DB}"/>
              </a:ext>
            </a:extLst>
          </p:cNvPr>
          <p:cNvSpPr>
            <a:spLocks noGrp="1"/>
          </p:cNvSpPr>
          <p:nvPr/>
        </p:nvSpPr>
        <p:spPr>
          <a:xfrm>
            <a:off x="15294713" y="89154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등급별 확률로 투사체 속성 부여</a:t>
            </a:r>
          </a:p>
        </p:txBody>
      </p:sp>
      <p:pic>
        <p:nvPicPr>
          <p:cNvPr id="103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9334500"/>
            <a:ext cx="6578600" cy="50800"/>
          </a:xfrm>
          <a:prstGeom prst="rect">
            <a:avLst/>
          </a:prstGeom>
        </p:spPr>
      </p:pic>
      <p:pic>
        <p:nvPicPr>
          <p:cNvPr id="104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53213" y="9474200"/>
            <a:ext cx="1778000" cy="622300"/>
          </a:xfrm>
          <a:prstGeom prst="rect">
            <a:avLst/>
          </a:prstGeom>
        </p:spPr>
      </p:pic>
      <p:sp>
        <p:nvSpPr>
          <p:cNvPr id="35" name="TextBox 35">
            <a:extLst>
              <a:ext uri="{FF2B5EF4-FFF2-40B4-BE49-F238E27FC236}">
                <a16:creationId xmlns:a16="http://schemas.microsoft.com/office/drawing/2014/main" id="{36E6844D-A68A-4214-815B-CBB132CBE162}"/>
              </a:ext>
            </a:extLst>
          </p:cNvPr>
          <p:cNvSpPr>
            <a:spLocks noGrp="1"/>
          </p:cNvSpPr>
          <p:nvPr/>
        </p:nvSpPr>
        <p:spPr>
          <a:xfrm>
            <a:off x="13427813" y="95758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고유 스킬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DFFBDC0-7BC8-4ED5-955C-08438E3A47D4}"/>
              </a:ext>
            </a:extLst>
          </p:cNvPr>
          <p:cNvSpPr>
            <a:spLocks noGrp="1"/>
          </p:cNvSpPr>
          <p:nvPr/>
        </p:nvSpPr>
        <p:spPr>
          <a:xfrm>
            <a:off x="15294713" y="96266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등급별 확률로 고유 스킬 결정</a:t>
            </a:r>
          </a:p>
        </p:txBody>
      </p:sp>
      <p:pic>
        <p:nvPicPr>
          <p:cNvPr id="10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10045700"/>
            <a:ext cx="6578600" cy="50800"/>
          </a:xfrm>
          <a:prstGeom prst="rect">
            <a:avLst/>
          </a:prstGeom>
        </p:spPr>
      </p:pic>
      <p:pic>
        <p:nvPicPr>
          <p:cNvPr id="10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3213" y="10172700"/>
            <a:ext cx="1778000" cy="622300"/>
          </a:xfrm>
          <a:prstGeom prst="rect">
            <a:avLst/>
          </a:prstGeom>
        </p:spPr>
      </p:pic>
      <p:sp>
        <p:nvSpPr>
          <p:cNvPr id="39" name="TextBox 39">
            <a:extLst>
              <a:ext uri="{FF2B5EF4-FFF2-40B4-BE49-F238E27FC236}">
                <a16:creationId xmlns:a16="http://schemas.microsoft.com/office/drawing/2014/main" id="{2A70E581-EA6F-428C-A1B4-476BCF2555B7}"/>
              </a:ext>
            </a:extLst>
          </p:cNvPr>
          <p:cNvSpPr>
            <a:spLocks noGrp="1"/>
          </p:cNvSpPr>
          <p:nvPr/>
        </p:nvSpPr>
        <p:spPr>
          <a:xfrm>
            <a:off x="13427813" y="102870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결과 연출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E79D7E9-3B49-456E-854B-33D97C32A966}"/>
              </a:ext>
            </a:extLst>
          </p:cNvPr>
          <p:cNvSpPr>
            <a:spLocks noGrp="1"/>
          </p:cNvSpPr>
          <p:nvPr/>
        </p:nvSpPr>
        <p:spPr>
          <a:xfrm>
            <a:off x="15294713" y="10325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카드 플립·등급별 VFX 파티클 부여</a:t>
            </a:r>
          </a:p>
        </p:txBody>
      </p:sp>
      <p:pic>
        <p:nvPicPr>
          <p:cNvPr id="111" name="Picture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10756900"/>
            <a:ext cx="6578600" cy="50800"/>
          </a:xfrm>
          <a:prstGeom prst="rect">
            <a:avLst/>
          </a:prstGeom>
        </p:spPr>
      </p:pic>
      <p:pic>
        <p:nvPicPr>
          <p:cNvPr id="112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3213" y="10883900"/>
            <a:ext cx="1778000" cy="622300"/>
          </a:xfrm>
          <a:prstGeom prst="rect">
            <a:avLst/>
          </a:prstGeom>
        </p:spPr>
      </p:pic>
      <p:sp>
        <p:nvSpPr>
          <p:cNvPr id="43" name="TextBox 43">
            <a:extLst>
              <a:ext uri="{FF2B5EF4-FFF2-40B4-BE49-F238E27FC236}">
                <a16:creationId xmlns:a16="http://schemas.microsoft.com/office/drawing/2014/main" id="{F2475E09-65EC-49E6-9DB8-A4DF6BB2494D}"/>
              </a:ext>
            </a:extLst>
          </p:cNvPr>
          <p:cNvSpPr>
            <a:spLocks noGrp="1"/>
          </p:cNvSpPr>
          <p:nvPr/>
        </p:nvSpPr>
        <p:spPr>
          <a:xfrm>
            <a:off x="13427813" y="109855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대기 연출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CFE20009-10C8-4FA8-AFF3-7BE44F12853B}"/>
              </a:ext>
            </a:extLst>
          </p:cNvPr>
          <p:cNvSpPr>
            <a:spLocks noGrp="1"/>
          </p:cNvSpPr>
          <p:nvPr/>
        </p:nvSpPr>
        <p:spPr>
          <a:xfrm>
            <a:off x="15294713" y="110363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비동기 서버 호출 중 Render Texture 영상 재생</a:t>
            </a:r>
          </a:p>
        </p:txBody>
      </p:sp>
      <p:pic>
        <p:nvPicPr>
          <p:cNvPr id="115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11455400"/>
            <a:ext cx="6578600" cy="50800"/>
          </a:xfrm>
          <a:prstGeom prst="rect">
            <a:avLst/>
          </a:prstGeom>
        </p:spPr>
      </p:pic>
      <p:sp>
        <p:nvSpPr>
          <p:cNvPr id="46" name="TextBox 46">
            <a:extLst>
              <a:ext uri="{FF2B5EF4-FFF2-40B4-BE49-F238E27FC236}">
                <a16:creationId xmlns:a16="http://schemas.microsoft.com/office/drawing/2014/main" id="{7ABC7D4C-137A-4694-84A1-40ADB7B491AE}"/>
              </a:ext>
            </a:extLst>
          </p:cNvPr>
          <p:cNvSpPr>
            <a:spLocks noGrp="1"/>
          </p:cNvSpPr>
          <p:nvPr/>
        </p:nvSpPr>
        <p:spPr>
          <a:xfrm>
            <a:off x="1396999" y="11785600"/>
            <a:ext cx="10226431" cy="977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GUID를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기준으로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아이템의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강화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수치와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장착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상태를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관리하고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, </a:t>
            </a:r>
          </a:p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인벤토리의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변경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이벤트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발행과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구독을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인벤토리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UI를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갱신</a:t>
            </a:r>
            <a:endParaRPr sz="2666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0C9DF35C-3074-4C2B-A9B1-3CBB2ECB2EBE}"/>
              </a:ext>
            </a:extLst>
          </p:cNvPr>
          <p:cNvSpPr>
            <a:spLocks noGrp="1"/>
          </p:cNvSpPr>
          <p:nvPr/>
        </p:nvSpPr>
        <p:spPr>
          <a:xfrm>
            <a:off x="13440513" y="11785600"/>
            <a:ext cx="9296400" cy="977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등급·속성·스킬을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순차적으로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결정해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생성하고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sz="2666" b="0" i="0" u="none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가챠</a:t>
            </a:r>
            <a:r>
              <a:rPr sz="2666" b="0" i="0" u="none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연출을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결과를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UI로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표시</a:t>
            </a:r>
            <a:endParaRPr sz="2666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18" name="Picture 4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90089"/>
            <a:ext cx="9766300" cy="54966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9" name="Picture 4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9300" y="2413000"/>
            <a:ext cx="9766300" cy="55101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8280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4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9DB355A-5B58-499F-9E6D-2329806D7571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 과정</a:t>
            </a:r>
          </a:p>
        </p:txBody>
      </p:sp>
      <p:pic>
        <p:nvPicPr>
          <p:cNvPr id="44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3873500"/>
            <a:ext cx="5080000" cy="1549400"/>
          </a:xfrm>
          <a:prstGeom prst="rect">
            <a:avLst/>
          </a:prstGeom>
        </p:spPr>
      </p:pic>
      <p:pic>
        <p:nvPicPr>
          <p:cNvPr id="45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8200" y="3873500"/>
            <a:ext cx="5105400" cy="1562100"/>
          </a:xfrm>
          <a:prstGeom prst="rect">
            <a:avLst/>
          </a:prstGeom>
        </p:spPr>
      </p:pic>
      <p:pic>
        <p:nvPicPr>
          <p:cNvPr id="46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887200" y="4483100"/>
            <a:ext cx="381000" cy="330200"/>
          </a:xfrm>
          <a:prstGeom prst="rect">
            <a:avLst/>
          </a:prstGeom>
        </p:spPr>
      </p:pic>
      <p:pic>
        <p:nvPicPr>
          <p:cNvPr id="47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31800" y="5829300"/>
            <a:ext cx="5080000" cy="1549400"/>
          </a:xfrm>
          <a:prstGeom prst="rect">
            <a:avLst/>
          </a:prstGeom>
        </p:spPr>
      </p:pic>
      <p:pic>
        <p:nvPicPr>
          <p:cNvPr id="48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200" y="5829300"/>
            <a:ext cx="5105400" cy="1562100"/>
          </a:xfrm>
          <a:prstGeom prst="rect">
            <a:avLst/>
          </a:prstGeom>
        </p:spPr>
      </p:pic>
      <p:pic>
        <p:nvPicPr>
          <p:cNvPr id="49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887200" y="6438900"/>
            <a:ext cx="381000" cy="330200"/>
          </a:xfrm>
          <a:prstGeom prst="rect">
            <a:avLst/>
          </a:prstGeom>
        </p:spPr>
      </p:pic>
      <p:pic>
        <p:nvPicPr>
          <p:cNvPr id="50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31800" y="7797800"/>
            <a:ext cx="5080000" cy="1549400"/>
          </a:xfrm>
          <a:prstGeom prst="rect">
            <a:avLst/>
          </a:prstGeom>
        </p:spPr>
      </p:pic>
      <p:pic>
        <p:nvPicPr>
          <p:cNvPr id="51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8200" y="7797800"/>
            <a:ext cx="5105400" cy="1562100"/>
          </a:xfrm>
          <a:prstGeom prst="rect">
            <a:avLst/>
          </a:prstGeom>
        </p:spPr>
      </p:pic>
      <p:pic>
        <p:nvPicPr>
          <p:cNvPr id="52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1887200" y="8407400"/>
            <a:ext cx="381000" cy="330200"/>
          </a:xfrm>
          <a:prstGeom prst="rect">
            <a:avLst/>
          </a:prstGeom>
        </p:spPr>
      </p:pic>
      <p:pic>
        <p:nvPicPr>
          <p:cNvPr id="53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7900" y="3162300"/>
            <a:ext cx="4889500" cy="254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F427703-AE89-4267-B4DF-0FCDE44C7BAD}"/>
              </a:ext>
            </a:extLst>
          </p:cNvPr>
          <p:cNvSpPr>
            <a:spLocks noGrp="1"/>
          </p:cNvSpPr>
          <p:nvPr/>
        </p:nvSpPr>
        <p:spPr>
          <a:xfrm>
            <a:off x="6356350" y="2781300"/>
            <a:ext cx="4216400" cy="508000"/>
          </a:xfrm>
          <a:prstGeom prst="rect">
            <a:avLst/>
          </a:prstGeom>
        </p:spPr>
        <p:txBody>
          <a:bodyPr lIns="0" tIns="28787" rIns="0" bIns="28787" anchor="ctr"/>
          <a:lstStyle/>
          <a:p>
            <a:pPr lvl="0" algn="ctr">
              <a:lnSpc>
                <a:spcPct val="10208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클라이언트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중심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구조</a:t>
            </a:r>
            <a:endParaRPr sz="2666" b="0" i="0" u="none" spc="-100" dirty="0">
              <a:solidFill>
                <a:srgbClr val="3A4CA8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5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82600" y="3162300"/>
            <a:ext cx="4889500" cy="2540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EEA19FF7-E3AA-454E-B9AA-870DBC51B5E0}"/>
              </a:ext>
            </a:extLst>
          </p:cNvPr>
          <p:cNvSpPr>
            <a:spLocks noGrp="1"/>
          </p:cNvSpPr>
          <p:nvPr/>
        </p:nvSpPr>
        <p:spPr>
          <a:xfrm>
            <a:off x="13068300" y="2755900"/>
            <a:ext cx="4749800" cy="571500"/>
          </a:xfrm>
          <a:prstGeom prst="rect">
            <a:avLst/>
          </a:prstGeom>
        </p:spPr>
        <p:txBody>
          <a:bodyPr lIns="0" tIns="35639" rIns="0" bIns="35639" anchor="ctr"/>
          <a:lstStyle/>
          <a:p>
            <a:pPr lvl="0" algn="ctr">
              <a:lnSpc>
                <a:spcPct val="10208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출시·운영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발생할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spc="-100" dirty="0" err="1" smtClean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문제</a:t>
            </a:r>
            <a:endParaRPr sz="2666" b="0" i="0" u="none" spc="-100" dirty="0">
              <a:solidFill>
                <a:srgbClr val="3A4CA8"/>
              </a:solidFill>
              <a:latin typeface="Jalnan 2"/>
              <a:ea typeface="Jalnan 2"/>
              <a:cs typeface="Jalnan 2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B6852D9-1EC2-4FD2-9D67-5645A0455DF4}"/>
              </a:ext>
            </a:extLst>
          </p:cNvPr>
          <p:cNvSpPr>
            <a:spLocks noGrp="1"/>
          </p:cNvSpPr>
          <p:nvPr/>
        </p:nvSpPr>
        <p:spPr>
          <a:xfrm>
            <a:off x="6261100" y="4203700"/>
            <a:ext cx="44069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아이템·확률 데이터를 로컬 CSV로</a:t>
            </a: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관리하고 클라이언트에서 파싱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2368295-C7D8-43CA-A124-EE037BA2E694}"/>
              </a:ext>
            </a:extLst>
          </p:cNvPr>
          <p:cNvSpPr>
            <a:spLocks noGrp="1"/>
          </p:cNvSpPr>
          <p:nvPr/>
        </p:nvSpPr>
        <p:spPr>
          <a:xfrm>
            <a:off x="5981700" y="6210300"/>
            <a:ext cx="50419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등급·속성·스킬을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포함한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가챠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 smtClean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결과를</a:t>
            </a:r>
            <a:endParaRPr lang="en-US" sz="2266" b="1" i="0" u="none" spc="-100" dirty="0" smtClean="0">
              <a:solidFill>
                <a:srgbClr val="333333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smtClean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클라이언트에서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계산</a:t>
            </a:r>
            <a:endParaRPr sz="2266" b="1" i="0" u="none" spc="-100" dirty="0">
              <a:solidFill>
                <a:srgbClr val="333333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8BF2187-DBA5-4A41-95EB-F21FC6427BC6}"/>
              </a:ext>
            </a:extLst>
          </p:cNvPr>
          <p:cNvSpPr>
            <a:spLocks noGrp="1"/>
          </p:cNvSpPr>
          <p:nvPr/>
        </p:nvSpPr>
        <p:spPr>
          <a:xfrm>
            <a:off x="5994400" y="8128000"/>
            <a:ext cx="50292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메모리의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재화를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 smtClean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기준으로</a:t>
            </a:r>
            <a:endParaRPr lang="en-US" sz="2266" b="1" i="0" u="none" spc="-100" dirty="0" smtClean="0">
              <a:solidFill>
                <a:srgbClr val="333333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smtClean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구매와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차감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처리</a:t>
            </a:r>
            <a:endParaRPr sz="2266" b="1" i="0" u="none" spc="-100" dirty="0">
              <a:solidFill>
                <a:srgbClr val="333333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B9A2B3E-AC43-47B2-AFDB-0AEF5048F1F3}"/>
              </a:ext>
            </a:extLst>
          </p:cNvPr>
          <p:cNvSpPr>
            <a:spLocks noGrp="1"/>
          </p:cNvSpPr>
          <p:nvPr/>
        </p:nvSpPr>
        <p:spPr>
          <a:xfrm>
            <a:off x="13449300" y="4203700"/>
            <a:ext cx="44450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데이터 변경 시 CSV와 빌드 수정 및</a:t>
            </a: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 클라이언트 재배포 필요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DBC0540-9448-4750-985C-77091F548074}"/>
              </a:ext>
            </a:extLst>
          </p:cNvPr>
          <p:cNvSpPr>
            <a:spLocks noGrp="1"/>
          </p:cNvSpPr>
          <p:nvPr/>
        </p:nvSpPr>
        <p:spPr>
          <a:xfrm>
            <a:off x="13157200" y="6210300"/>
            <a:ext cx="51054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확률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데이터와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가챠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결과가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2266" b="1" i="0" u="none" spc="-100" dirty="0" smtClean="0">
              <a:solidFill>
                <a:srgbClr val="333333"/>
              </a:solidFill>
              <a:latin typeface="Noto Sans KR"/>
              <a:ea typeface="Noto Sans KR"/>
              <a:cs typeface="Noto Sans KR"/>
            </a:endParaRP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err="1" smtClean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클라이언트</a:t>
            </a:r>
            <a:r>
              <a:rPr sz="2266" b="1" i="0" u="none" spc="-100" dirty="0" smtClean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변조의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 smtClean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영향</a:t>
            </a:r>
            <a:r>
              <a:rPr sz="2266" b="1" i="0" u="none" spc="-100" dirty="0" smtClean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받을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가능성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존재</a:t>
            </a:r>
            <a:endParaRPr sz="2266" b="1" i="0" u="none" spc="-100" dirty="0">
              <a:solidFill>
                <a:srgbClr val="3333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F0B772F-1C24-4669-927E-040A48F0EFCA}"/>
              </a:ext>
            </a:extLst>
          </p:cNvPr>
          <p:cNvSpPr>
            <a:spLocks noGrp="1"/>
          </p:cNvSpPr>
          <p:nvPr/>
        </p:nvSpPr>
        <p:spPr>
          <a:xfrm>
            <a:off x="13233400" y="8128000"/>
            <a:ext cx="48768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메모리 변조 시 유료 재화와 </a:t>
            </a: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구매 결과의 신뢰성 저하 가능성 존재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2D517A5-5E3B-4975-9C7A-9C3ACE41ECA3}"/>
              </a:ext>
            </a:extLst>
          </p:cNvPr>
          <p:cNvSpPr>
            <a:spLocks noGrp="1"/>
          </p:cNvSpPr>
          <p:nvPr/>
        </p:nvSpPr>
        <p:spPr>
          <a:xfrm>
            <a:off x="4483100" y="4178300"/>
            <a:ext cx="1524000" cy="850900"/>
          </a:xfrm>
          <a:prstGeom prst="rect">
            <a:avLst/>
          </a:prstGeom>
        </p:spPr>
        <p:txBody>
          <a:bodyPr lIns="0" tIns="49641" rIns="0" bIns="49641" anchor="ctr"/>
          <a:lstStyle/>
          <a:p>
            <a:pPr lvl="0" algn="l">
              <a:lnSpc>
                <a:spcPct val="10208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4598" b="0" i="0" u="none" spc="-200">
                <a:solidFill>
                  <a:srgbClr val="58C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690CC06-AC12-46D4-83B1-8C5DBA5E2CE4}"/>
              </a:ext>
            </a:extLst>
          </p:cNvPr>
          <p:cNvSpPr>
            <a:spLocks noGrp="1"/>
          </p:cNvSpPr>
          <p:nvPr/>
        </p:nvSpPr>
        <p:spPr>
          <a:xfrm>
            <a:off x="4483100" y="6057900"/>
            <a:ext cx="1524000" cy="850900"/>
          </a:xfrm>
          <a:prstGeom prst="rect">
            <a:avLst/>
          </a:prstGeom>
        </p:spPr>
        <p:txBody>
          <a:bodyPr lIns="0" tIns="49641" rIns="0" bIns="49641" anchor="ctr"/>
          <a:lstStyle/>
          <a:p>
            <a:pPr lvl="0" algn="l">
              <a:lnSpc>
                <a:spcPct val="10208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4598" b="0" i="0" u="none" spc="-200">
                <a:solidFill>
                  <a:srgbClr val="58C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DDF6D27-0579-4E01-B4D5-BBC963EE0F21}"/>
              </a:ext>
            </a:extLst>
          </p:cNvPr>
          <p:cNvSpPr>
            <a:spLocks noGrp="1"/>
          </p:cNvSpPr>
          <p:nvPr/>
        </p:nvSpPr>
        <p:spPr>
          <a:xfrm>
            <a:off x="4483100" y="8013700"/>
            <a:ext cx="1524000" cy="850900"/>
          </a:xfrm>
          <a:prstGeom prst="rect">
            <a:avLst/>
          </a:prstGeom>
        </p:spPr>
        <p:txBody>
          <a:bodyPr lIns="0" tIns="49641" rIns="0" bIns="49641" anchor="ctr"/>
          <a:lstStyle/>
          <a:p>
            <a:pPr lvl="0" algn="l">
              <a:lnSpc>
                <a:spcPct val="10208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4598" b="0" i="0" u="none" spc="-200">
                <a:solidFill>
                  <a:srgbClr val="58C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EF6888F-F1FB-4F7F-9CC1-61495F844D58}"/>
              </a:ext>
            </a:extLst>
          </p:cNvPr>
          <p:cNvSpPr>
            <a:spLocks noGrp="1"/>
          </p:cNvSpPr>
          <p:nvPr/>
        </p:nvSpPr>
        <p:spPr>
          <a:xfrm>
            <a:off x="2843334" y="10807700"/>
            <a:ext cx="18900531" cy="1397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클라이언트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중심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구조의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한계를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분석</a:t>
            </a:r>
            <a:endParaRPr sz="3857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출시·운영을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위해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관리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위치와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콘텐츠의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연산의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주체의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재설계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필요성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체감</a:t>
            </a:r>
            <a:endParaRPr sz="3857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6061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501AF08-3F65-4F63-834F-B8FBA6D9937C}"/>
              </a:ext>
            </a:extLst>
          </p:cNvPr>
          <p:cNvSpPr>
            <a:spLocks noGrp="1"/>
          </p:cNvSpPr>
          <p:nvPr/>
        </p:nvSpPr>
        <p:spPr>
          <a:xfrm>
            <a:off x="1155700" y="35814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Backnd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뒤끝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) Chart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관리</a:t>
            </a:r>
            <a:endParaRPr sz="2933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BEDE3C6-005B-4525-AC53-EB87A4097349}"/>
              </a:ext>
            </a:extLst>
          </p:cNvPr>
          <p:cNvSpPr>
            <a:spLocks noGrp="1"/>
          </p:cNvSpPr>
          <p:nvPr/>
        </p:nvSpPr>
        <p:spPr>
          <a:xfrm>
            <a:off x="1219200" y="4775200"/>
            <a:ext cx="9461500" cy="1498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로컬 CSV파일을 파싱하여 관리하던 아이템·확률·비용 데이터를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Backend Chart로 이전하고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로그인 시 서버 데이터를 로드해 게임에서 사용할 런타임 데이터로 변환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38D9491-5030-4E04-BD3D-06E516FDA28E}"/>
              </a:ext>
            </a:extLst>
          </p:cNvPr>
          <p:cNvSpPr>
            <a:spLocks noGrp="1"/>
          </p:cNvSpPr>
          <p:nvPr/>
        </p:nvSpPr>
        <p:spPr>
          <a:xfrm>
            <a:off x="1130300" y="8343900"/>
            <a:ext cx="95504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강화 비용·확률데이터는 계산 기준을 Key로 하는 Dictionary로 변환해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필요한 시스템에서 조회할 수 있도록 구성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142770E-3EAE-4675-B76D-005CBC4900C0}"/>
              </a:ext>
            </a:extLst>
          </p:cNvPr>
          <p:cNvSpPr>
            <a:spLocks noGrp="1"/>
          </p:cNvSpPr>
          <p:nvPr/>
        </p:nvSpPr>
        <p:spPr>
          <a:xfrm>
            <a:off x="1282700" y="6692900"/>
            <a:ext cx="94361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 데이터는 WeaponItemData와 ShieldItemData으로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각각의 런타임 ScriptableObject로 동적 생성</a:t>
            </a:r>
          </a:p>
        </p:txBody>
      </p:sp>
      <p:pic>
        <p:nvPicPr>
          <p:cNvPr id="30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42DE0528-CC40-4610-B44F-5875EA33B18D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32766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E5F1A35-29C7-4121-9021-9C203A7A91AB}"/>
              </a:ext>
            </a:extLst>
          </p:cNvPr>
          <p:cNvSpPr>
            <a:spLocks noGrp="1"/>
          </p:cNvSpPr>
          <p:nvPr/>
        </p:nvSpPr>
        <p:spPr>
          <a:xfrm>
            <a:off x="4241800" y="10414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-뒤끝 서버 연동 시스템(게임 데이터 관리)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5EFFEBC-8A03-4729-A030-EF519584F258}"/>
              </a:ext>
            </a:extLst>
          </p:cNvPr>
          <p:cNvSpPr>
            <a:spLocks noGrp="1"/>
          </p:cNvSpPr>
          <p:nvPr/>
        </p:nvSpPr>
        <p:spPr>
          <a:xfrm>
            <a:off x="850900" y="10769600"/>
            <a:ext cx="9766300" cy="977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클라이언트 재빌드·재배포 없이 서버의 Backend Chart 수정만으로 </a:t>
            </a:r>
          </a:p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 데이터를 갱신할 수 있도록 운영 과정을 단순화</a:t>
            </a:r>
          </a:p>
        </p:txBody>
      </p:sp>
      <p:pic>
        <p:nvPicPr>
          <p:cNvPr id="34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9000" y="7378700"/>
            <a:ext cx="8432800" cy="5676900"/>
          </a:xfrm>
          <a:prstGeom prst="rect">
            <a:avLst/>
          </a:prstGeom>
        </p:spPr>
      </p:pic>
      <p:pic>
        <p:nvPicPr>
          <p:cNvPr id="35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9300" y="2032000"/>
            <a:ext cx="10807700" cy="4241800"/>
          </a:xfrm>
          <a:prstGeom prst="rect">
            <a:avLst/>
          </a:prstGeom>
        </p:spPr>
      </p:pic>
      <p:pic>
        <p:nvPicPr>
          <p:cNvPr id="36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26100" y="2273300"/>
            <a:ext cx="3238500" cy="1841500"/>
          </a:xfrm>
          <a:prstGeom prst="rect">
            <a:avLst/>
          </a:prstGeom>
        </p:spPr>
      </p:pic>
      <p:pic>
        <p:nvPicPr>
          <p:cNvPr id="37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9700" y="2324100"/>
            <a:ext cx="5511800" cy="2578100"/>
          </a:xfrm>
          <a:prstGeom prst="rect">
            <a:avLst/>
          </a:prstGeom>
        </p:spPr>
      </p:pic>
      <p:pic>
        <p:nvPicPr>
          <p:cNvPr id="38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4089400"/>
            <a:ext cx="5511800" cy="16002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76914EF3-789C-42BC-92F3-7B3FAB637970}"/>
              </a:ext>
            </a:extLst>
          </p:cNvPr>
          <p:cNvSpPr>
            <a:spLocks noGrp="1"/>
          </p:cNvSpPr>
          <p:nvPr/>
        </p:nvSpPr>
        <p:spPr>
          <a:xfrm>
            <a:off x="12839700" y="5448300"/>
            <a:ext cx="4533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뒤끝 서버 차트 데이터 업로드</a:t>
            </a:r>
          </a:p>
        </p:txBody>
      </p:sp>
      <p:pic>
        <p:nvPicPr>
          <p:cNvPr id="40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06900" y="6324600"/>
            <a:ext cx="9144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3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870200"/>
            <a:ext cx="10833100" cy="34036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4B7C064-6DEF-4A60-9239-35E6585CBF39}"/>
              </a:ext>
            </a:extLst>
          </p:cNvPr>
          <p:cNvSpPr>
            <a:spLocks noGrp="1"/>
          </p:cNvSpPr>
          <p:nvPr/>
        </p:nvSpPr>
        <p:spPr>
          <a:xfrm>
            <a:off x="12687300" y="33655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단방향 재화 동기화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A12B43-7195-4680-9F90-1EA7C6E99ADB}"/>
              </a:ext>
            </a:extLst>
          </p:cNvPr>
          <p:cNvSpPr>
            <a:spLocks noGrp="1"/>
          </p:cNvSpPr>
          <p:nvPr/>
        </p:nvSpPr>
        <p:spPr>
          <a:xfrm>
            <a:off x="12687300" y="4305300"/>
            <a:ext cx="9880600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클라이언트에서 재화 검증과  연산이 수행되는 것이 아닌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클라이언트는 가챠·구매를 요청하고, Server Function을 사용하여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서버에서 UserData를 직접 조회해 재화 검증·차감·저장 수행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F2C385-CB0B-4DD8-9E86-2ACA58E94582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33020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문제해결2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46EBABC-2597-4E59-A19B-FF4673E603CE}"/>
              </a:ext>
            </a:extLst>
          </p:cNvPr>
          <p:cNvSpPr>
            <a:spLocks noGrp="1"/>
          </p:cNvSpPr>
          <p:nvPr/>
        </p:nvSpPr>
        <p:spPr>
          <a:xfrm>
            <a:off x="4267200" y="1066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-뒤끝 서버 연동 시스템(서버 펑션)</a:t>
            </a:r>
          </a:p>
        </p:txBody>
      </p:sp>
      <p:pic>
        <p:nvPicPr>
          <p:cNvPr id="2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6807200"/>
            <a:ext cx="10833100" cy="23749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E77BB07A-9026-4FDF-993F-ADB45B3640C0}"/>
              </a:ext>
            </a:extLst>
          </p:cNvPr>
          <p:cNvSpPr>
            <a:spLocks noGrp="1"/>
          </p:cNvSpPr>
          <p:nvPr/>
        </p:nvSpPr>
        <p:spPr>
          <a:xfrm>
            <a:off x="12687300" y="69723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UI와 실제 데이터 분리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554C23-D1FB-4002-AFB5-59E283DA2D41}"/>
              </a:ext>
            </a:extLst>
          </p:cNvPr>
          <p:cNvSpPr>
            <a:spLocks noGrp="1"/>
          </p:cNvSpPr>
          <p:nvPr/>
        </p:nvSpPr>
        <p:spPr>
          <a:xfrm>
            <a:off x="12674600" y="77978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클라이언트의 (다이아) 재화 변수는 화면 표시용으로 사용하고, 
서버가 반환한 최종 재화 상태를 기준으로 UI 갱신</a:t>
            </a:r>
          </a:p>
        </p:txBody>
      </p:sp>
      <p:pic>
        <p:nvPicPr>
          <p:cNvPr id="3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0" y="9829800"/>
            <a:ext cx="10833100" cy="24384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A4E950B3-B607-4B77-A6EC-2E7F29F8AB3B}"/>
              </a:ext>
            </a:extLst>
          </p:cNvPr>
          <p:cNvSpPr>
            <a:spLocks noGrp="1"/>
          </p:cNvSpPr>
          <p:nvPr/>
        </p:nvSpPr>
        <p:spPr>
          <a:xfrm>
            <a:off x="12687300" y="100076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응답 DTO 반환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0841313-D6E6-499F-8FEF-7651E27FFE0C}"/>
              </a:ext>
            </a:extLst>
          </p:cNvPr>
          <p:cNvSpPr>
            <a:spLocks noGrp="1"/>
          </p:cNvSpPr>
          <p:nvPr/>
        </p:nvSpPr>
        <p:spPr>
          <a:xfrm>
            <a:off x="12509500" y="10922000"/>
            <a:ext cx="106553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 요청을 받은 Server Function이 검증·연산·저장을 완료한 뒤,
성공 여부와 오류 정보, 생성 아이템, 최종 재화 상태를 기능별 응답 DTO로 구성해 반환</a:t>
            </a:r>
          </a:p>
        </p:txBody>
      </p:sp>
      <p:pic>
        <p:nvPicPr>
          <p:cNvPr id="3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700" y="7239000"/>
            <a:ext cx="10896600" cy="5918200"/>
          </a:xfrm>
          <a:prstGeom prst="rect">
            <a:avLst/>
          </a:prstGeom>
        </p:spPr>
      </p:pic>
      <p:pic>
        <p:nvPicPr>
          <p:cNvPr id="3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2044700"/>
            <a:ext cx="88011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0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6908800"/>
            <a:ext cx="21526500" cy="381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DC2AC1D-CF70-45FE-9331-D9FE06924DB5}"/>
              </a:ext>
            </a:extLst>
          </p:cNvPr>
          <p:cNvSpPr>
            <a:spLocks noGrp="1"/>
          </p:cNvSpPr>
          <p:nvPr/>
        </p:nvSpPr>
        <p:spPr>
          <a:xfrm>
            <a:off x="1562100" y="3759200"/>
            <a:ext cx="21285200" cy="2286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293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했던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프로젝트에서는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구현에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집중했다면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이번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출시를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목표로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관리와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연동까지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범위를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확장했습니다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백엔드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서비스로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뒤끝을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처음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연동하면서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데이터Chart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유저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DB/Server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Function을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활용한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흐름을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구성했습니다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 
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역할을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구분해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운영을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고려한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시스템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설계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경험을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쌓았습니다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</a:t>
            </a:r>
            <a:r>
              <a:rPr dirty="0">
                <a:latin typeface="Noto Sans KR"/>
                <a:ea typeface="Noto Sans KR"/>
                <a:cs typeface="Noto Sans KR"/>
              </a:rPr>
              <a:t/>
            </a:r>
            <a:br>
              <a:rPr dirty="0">
                <a:latin typeface="Noto Sans KR"/>
                <a:ea typeface="Noto Sans KR"/>
                <a:cs typeface="Noto Sans KR"/>
              </a:rPr>
            </a:br>
            <a:endParaRPr sz="2933" b="0" i="0" u="none" spc="-100" dirty="0">
              <a:solidFill>
                <a:srgbClr val="000000">
                  <a:alpha val="80000"/>
                </a:srgbClr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A0B0C72-262C-42CC-B575-068FCD5AE657}"/>
              </a:ext>
            </a:extLst>
          </p:cNvPr>
          <p:cNvSpPr>
            <a:spLocks noGrp="1"/>
          </p:cNvSpPr>
          <p:nvPr/>
        </p:nvSpPr>
        <p:spPr>
          <a:xfrm>
            <a:off x="1562100" y="80772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참고 링크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1A9A72-374F-48B2-ABBD-CE2E73BCCF4D}"/>
              </a:ext>
            </a:extLst>
          </p:cNvPr>
          <p:cNvSpPr>
            <a:spLocks noGrp="1"/>
          </p:cNvSpPr>
          <p:nvPr/>
        </p:nvSpPr>
        <p:spPr>
          <a:xfrm>
            <a:off x="1562100" y="9017000"/>
            <a:ext cx="1422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깃허브 :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D33152-882D-47C0-B512-B565194991C3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결과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580E705-F96F-4404-82D1-290D404B6F07}"/>
              </a:ext>
            </a:extLst>
          </p:cNvPr>
          <p:cNvSpPr>
            <a:spLocks noGrp="1"/>
          </p:cNvSpPr>
          <p:nvPr/>
        </p:nvSpPr>
        <p:spPr>
          <a:xfrm>
            <a:off x="1562100" y="28194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회고</a:t>
            </a:r>
          </a:p>
        </p:txBody>
      </p:sp>
      <p:sp>
        <p:nvSpPr>
          <p:cNvPr id="10" name="TextBox 10">
            <a:hlinkClick r:id="rId6"/>
            <a:extLst>
              <a:ext uri="{FF2B5EF4-FFF2-40B4-BE49-F238E27FC236}">
                <a16:creationId xmlns:a16="http://schemas.microsoft.com/office/drawing/2014/main" id="{D355E210-0897-4344-9973-1B066131764C}"/>
              </a:ext>
            </a:extLst>
          </p:cNvPr>
          <p:cNvSpPr>
            <a:spLocks noGrp="1"/>
          </p:cNvSpPr>
          <p:nvPr/>
        </p:nvSpPr>
        <p:spPr>
          <a:xfrm>
            <a:off x="3073400" y="9017000"/>
            <a:ext cx="124714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https://github.com/coldwater1346-cpu/Shield-and-Shot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6D56F31-8359-4153-859B-B7DC4EA280E2}"/>
              </a:ext>
            </a:extLst>
          </p:cNvPr>
          <p:cNvSpPr>
            <a:spLocks noGrp="1"/>
          </p:cNvSpPr>
          <p:nvPr/>
        </p:nvSpPr>
        <p:spPr>
          <a:xfrm>
            <a:off x="1562100" y="9753600"/>
            <a:ext cx="2184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기획서 : </a:t>
            </a:r>
          </a:p>
        </p:txBody>
      </p:sp>
      <p:sp>
        <p:nvSpPr>
          <p:cNvPr id="12" name="TextBox 12">
            <a:hlinkClick r:id="rId6"/>
            <a:extLst>
              <a:ext uri="{FF2B5EF4-FFF2-40B4-BE49-F238E27FC236}">
                <a16:creationId xmlns:a16="http://schemas.microsoft.com/office/drawing/2014/main" id="{5EDB0B5A-23EE-4088-BB12-01D9EAC151EF}"/>
              </a:ext>
            </a:extLst>
          </p:cNvPr>
          <p:cNvSpPr>
            <a:spLocks noGrp="1"/>
          </p:cNvSpPr>
          <p:nvPr/>
        </p:nvSpPr>
        <p:spPr>
          <a:xfrm>
            <a:off x="3467100" y="97536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https://app.notion.com/p/5faaa1b05e3e82aabd5b815b93de33aa?source=copy_link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78B4218-CA1D-4A58-8BFF-17FED23DEA36}"/>
              </a:ext>
            </a:extLst>
          </p:cNvPr>
          <p:cNvSpPr>
            <a:spLocks noGrp="1"/>
          </p:cNvSpPr>
          <p:nvPr/>
        </p:nvSpPr>
        <p:spPr>
          <a:xfrm>
            <a:off x="1562100" y="10477500"/>
            <a:ext cx="3009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포트폴리오 영상 : </a:t>
            </a:r>
          </a:p>
        </p:txBody>
      </p:sp>
      <p:sp>
        <p:nvSpPr>
          <p:cNvPr id="14" name="TextBox 14">
            <a:hlinkClick r:id="rId6"/>
            <a:extLst>
              <a:ext uri="{FF2B5EF4-FFF2-40B4-BE49-F238E27FC236}">
                <a16:creationId xmlns:a16="http://schemas.microsoft.com/office/drawing/2014/main" id="{745E31DF-E354-4D22-AE1D-F6EFD9894ADE}"/>
              </a:ext>
            </a:extLst>
          </p:cNvPr>
          <p:cNvSpPr>
            <a:spLocks noGrp="1"/>
          </p:cNvSpPr>
          <p:nvPr/>
        </p:nvSpPr>
        <p:spPr>
          <a:xfrm>
            <a:off x="4152900" y="104775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https://youtu.be/hXdeEc8CAR0</a:t>
            </a:r>
          </a:p>
        </p:txBody>
      </p:sp>
    </p:spTree>
    <p:extLst>
      <p:ext uri="{BB962C8B-B14F-4D97-AF65-F5344CB8AC3E}">
        <p14:creationId xmlns:p14="http://schemas.microsoft.com/office/powerpoint/2010/main" val="197509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2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9999">
            <a:off x="7251700" y="7607300"/>
            <a:ext cx="10096500" cy="38100"/>
          </a:xfrm>
          <a:prstGeom prst="rect">
            <a:avLst/>
          </a:prstGeom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1100" y="6273800"/>
            <a:ext cx="10185400" cy="38100"/>
          </a:xfrm>
          <a:prstGeom prst="rect">
            <a:avLst/>
          </a:prstGeom>
        </p:spPr>
      </p:pic>
      <p:pic>
        <p:nvPicPr>
          <p:cNvPr id="24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1100" y="8674100"/>
            <a:ext cx="10185400" cy="38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CDAF7A1E-EA49-40C4-99A3-EE2A27B105E3}"/>
              </a:ext>
            </a:extLst>
          </p:cNvPr>
          <p:cNvSpPr>
            <a:spLocks noGrp="1"/>
          </p:cNvSpPr>
          <p:nvPr/>
        </p:nvSpPr>
        <p:spPr>
          <a:xfrm>
            <a:off x="12560300" y="2489200"/>
            <a:ext cx="9766300" cy="3568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 명 : Nirvana(니르바나)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장르 : 3인칭 액션 로그라이트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기간 : 2026.04.09~05.25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인원 : 5인 팀 프로젝트 (개발 4명 /QA 1명)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환경 : Unity 6000.3.6f1 / C#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7C7812-0F18-47AA-B4FC-5AFB4D0BFD1B}"/>
              </a:ext>
            </a:extLst>
          </p:cNvPr>
          <p:cNvSpPr>
            <a:spLocks noGrp="1"/>
          </p:cNvSpPr>
          <p:nvPr/>
        </p:nvSpPr>
        <p:spPr>
          <a:xfrm>
            <a:off x="12700000" y="64008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간략 소개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F71FD71-630E-4423-9B8F-DA84104865A7}"/>
              </a:ext>
            </a:extLst>
          </p:cNvPr>
          <p:cNvSpPr>
            <a:spLocks noGrp="1"/>
          </p:cNvSpPr>
          <p:nvPr/>
        </p:nvSpPr>
        <p:spPr>
          <a:xfrm>
            <a:off x="12700000" y="7302500"/>
            <a:ext cx="97663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[죽음 - 환생] 반복 루프를 통해 캐릭터 육성 및 강화를 진행하여, 
각 스테이지를 넘어 최종 보스 퀘스트를 클리어하는 액션 로그라이트 RPG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782662-C892-4F9F-A04A-9F34AC9F7DBC}"/>
              </a:ext>
            </a:extLst>
          </p:cNvPr>
          <p:cNvSpPr>
            <a:spLocks noGrp="1"/>
          </p:cNvSpPr>
          <p:nvPr/>
        </p:nvSpPr>
        <p:spPr>
          <a:xfrm>
            <a:off x="12700000" y="8978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 담당 개발 파트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D406015-12D0-4FC0-9B18-88C3B72F9F2C}"/>
              </a:ext>
            </a:extLst>
          </p:cNvPr>
          <p:cNvSpPr>
            <a:spLocks noGrp="1"/>
          </p:cNvSpPr>
          <p:nvPr/>
        </p:nvSpPr>
        <p:spPr>
          <a:xfrm>
            <a:off x="12700000" y="9829800"/>
            <a:ext cx="9766300" cy="25273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 구조 설계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인벤토리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HUD 및 게임 UI 구현(스탯창 / 상점 / 설정)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장비 스왑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사망 패널티 시스템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8773C48-5B46-4474-B23C-85A0BC4D35BC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소개</a:t>
            </a:r>
          </a:p>
        </p:txBody>
      </p:sp>
      <p:pic>
        <p:nvPicPr>
          <p:cNvPr id="31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3695700"/>
            <a:ext cx="11569700" cy="7899400"/>
          </a:xfrm>
          <a:prstGeom prst="rect">
            <a:avLst/>
          </a:prstGeom>
        </p:spPr>
      </p:pic>
      <p:pic>
        <p:nvPicPr>
          <p:cNvPr id="32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873500"/>
            <a:ext cx="11188700" cy="755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7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8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794000"/>
            <a:ext cx="10833100" cy="1803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8AA06152-F95B-4882-ABCA-86AA3713DBE2}"/>
              </a:ext>
            </a:extLst>
          </p:cNvPr>
          <p:cNvSpPr>
            <a:spLocks noGrp="1"/>
          </p:cNvSpPr>
          <p:nvPr/>
        </p:nvSpPr>
        <p:spPr>
          <a:xfrm>
            <a:off x="12687300" y="29591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공통 아이템 속성 (ItemData)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649B2D4-A84C-44DF-8175-9D56DBBDD11A}"/>
              </a:ext>
            </a:extLst>
          </p:cNvPr>
          <p:cNvSpPr>
            <a:spLocks noGrp="1"/>
          </p:cNvSpPr>
          <p:nvPr/>
        </p:nvSpPr>
        <p:spPr>
          <a:xfrm>
            <a:off x="12585700" y="3695700"/>
            <a:ext cx="9880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ID, 이름, 아이콘, 타입, 가격 등 모든 아이템이 사용하는 공통 정보를 관리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203F9FC-A768-4AA8-8A39-0101F8C57B22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B55C09-A21E-4B5C-A52E-BE5034804A0D}"/>
              </a:ext>
            </a:extLst>
          </p:cNvPr>
          <p:cNvSpPr>
            <a:spLocks noGrp="1"/>
          </p:cNvSpPr>
          <p:nvPr/>
        </p:nvSpPr>
        <p:spPr>
          <a:xfrm>
            <a:off x="58674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-아이템 구조 설계</a:t>
            </a:r>
          </a:p>
        </p:txBody>
      </p:sp>
      <p:pic>
        <p:nvPicPr>
          <p:cNvPr id="33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7645400"/>
            <a:ext cx="10833100" cy="18923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BD34B58-AECA-4B01-AF75-34253BB90C05}"/>
              </a:ext>
            </a:extLst>
          </p:cNvPr>
          <p:cNvSpPr>
            <a:spLocks noGrp="1"/>
          </p:cNvSpPr>
          <p:nvPr/>
        </p:nvSpPr>
        <p:spPr>
          <a:xfrm>
            <a:off x="12687300" y="7823200"/>
            <a:ext cx="52451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소비 아이템(ConsumableData)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598BF4D-E75C-4028-9819-B14929BC1912}"/>
              </a:ext>
            </a:extLst>
          </p:cNvPr>
          <p:cNvSpPr>
            <a:spLocks noGrp="1"/>
          </p:cNvSpPr>
          <p:nvPr/>
        </p:nvSpPr>
        <p:spPr>
          <a:xfrm>
            <a:off x="12687300" y="8724900"/>
            <a:ext cx="9880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회복 효과 값, 사용 쿨타임, 최대 중첩 수량 등 소비 아이템의 정의 정보를 관리</a:t>
            </a:r>
          </a:p>
        </p:txBody>
      </p:sp>
      <p:pic>
        <p:nvPicPr>
          <p:cNvPr id="36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5200" y="9867900"/>
            <a:ext cx="10833100" cy="27051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0484722B-42FD-48D7-8AE9-66D4DF6409C9}"/>
              </a:ext>
            </a:extLst>
          </p:cNvPr>
          <p:cNvSpPr>
            <a:spLocks noGrp="1"/>
          </p:cNvSpPr>
          <p:nvPr/>
        </p:nvSpPr>
        <p:spPr>
          <a:xfrm>
            <a:off x="12687300" y="10160000"/>
            <a:ext cx="5613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 인스턴스( InventoryItem)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6FB1CF9-D84C-4D21-B1CE-657B1D5FAE28}"/>
              </a:ext>
            </a:extLst>
          </p:cNvPr>
          <p:cNvSpPr>
            <a:spLocks noGrp="1"/>
          </p:cNvSpPr>
          <p:nvPr/>
        </p:nvSpPr>
        <p:spPr>
          <a:xfrm>
            <a:off x="12700000" y="10820400"/>
            <a:ext cx="10655300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인벤토리에는 원본 ItemData를 참조하는 InventoryItem형태로 런타임 아이템 저장
EquipmentItem과 ConsumableItem은 이를 상속하며,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소비 아이템은 슬롯별 수량 별도 관리</a:t>
            </a:r>
          </a:p>
        </p:txBody>
      </p:sp>
      <p:pic>
        <p:nvPicPr>
          <p:cNvPr id="39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5200" y="5181600"/>
            <a:ext cx="10833100" cy="21082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57EAC45E-580A-4652-82EE-4F0BF3F76E28}"/>
              </a:ext>
            </a:extLst>
          </p:cNvPr>
          <p:cNvSpPr>
            <a:spLocks noGrp="1"/>
          </p:cNvSpPr>
          <p:nvPr/>
        </p:nvSpPr>
        <p:spPr>
          <a:xfrm>
            <a:off x="12700000" y="5346700"/>
            <a:ext cx="5740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장비 아이템(EquipmentData)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B1A6A06-09CF-4F48-BED8-B2A76A83BF9B}"/>
              </a:ext>
            </a:extLst>
          </p:cNvPr>
          <p:cNvSpPr>
            <a:spLocks noGrp="1"/>
          </p:cNvSpPr>
          <p:nvPr/>
        </p:nvSpPr>
        <p:spPr>
          <a:xfrm>
            <a:off x="12700000" y="60706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공격력·방어력·체력·스태미나·행운과 장비 등급,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실제 무기 프리팹을 관리</a:t>
            </a:r>
          </a:p>
        </p:txBody>
      </p:sp>
      <p:pic>
        <p:nvPicPr>
          <p:cNvPr id="42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2133600"/>
            <a:ext cx="9372600" cy="8191500"/>
          </a:xfrm>
          <a:prstGeom prst="rect">
            <a:avLst/>
          </a:prstGeom>
        </p:spPr>
      </p:pic>
      <p:pic>
        <p:nvPicPr>
          <p:cNvPr id="43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2100" y="8585200"/>
            <a:ext cx="85217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4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7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8237FC7-AE5E-474E-BE7A-DC4A50DEFCC7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40E6FEC-EE45-4A8E-93AD-18C12CAE5195}"/>
              </a:ext>
            </a:extLst>
          </p:cNvPr>
          <p:cNvSpPr>
            <a:spLocks noGrp="1"/>
          </p:cNvSpPr>
          <p:nvPr/>
        </p:nvSpPr>
        <p:spPr>
          <a:xfrm>
            <a:off x="58674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-인벤토리 시스템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0D6E3D0-252E-468B-8B4F-375BB8F4BF78}"/>
              </a:ext>
            </a:extLst>
          </p:cNvPr>
          <p:cNvSpPr>
            <a:spLocks noGrp="1"/>
          </p:cNvSpPr>
          <p:nvPr/>
        </p:nvSpPr>
        <p:spPr>
          <a:xfrm>
            <a:off x="914400" y="2082800"/>
            <a:ext cx="103378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857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 처리 기능과 UI 상호작용을 구분한 인벤토리 </a:t>
            </a:r>
          </a:p>
        </p:txBody>
      </p:sp>
      <p:pic>
        <p:nvPicPr>
          <p:cNvPr id="7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287" y="9289560"/>
            <a:ext cx="1778000" cy="6223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F706EB83-C112-4277-BA92-618DE5C6AF53}"/>
              </a:ext>
            </a:extLst>
          </p:cNvPr>
          <p:cNvSpPr>
            <a:spLocks noGrp="1"/>
          </p:cNvSpPr>
          <p:nvPr/>
        </p:nvSpPr>
        <p:spPr>
          <a:xfrm>
            <a:off x="1951887" y="94038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아이템 추가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FC86710-83FB-4111-AFEE-EF2DFAAB1FD4}"/>
              </a:ext>
            </a:extLst>
          </p:cNvPr>
          <p:cNvSpPr>
            <a:spLocks noGrp="1"/>
          </p:cNvSpPr>
          <p:nvPr/>
        </p:nvSpPr>
        <p:spPr>
          <a:xfrm>
            <a:off x="3813902" y="944196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장비는 개별 생성, 소비 아이템은 기존 스택을 우선 탐색</a:t>
            </a:r>
          </a:p>
        </p:txBody>
      </p:sp>
      <p:pic>
        <p:nvPicPr>
          <p:cNvPr id="8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9873760"/>
            <a:ext cx="6578600" cy="50800"/>
          </a:xfrm>
          <a:prstGeom prst="rect">
            <a:avLst/>
          </a:prstGeom>
        </p:spPr>
      </p:pic>
      <p:pic>
        <p:nvPicPr>
          <p:cNvPr id="8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7287" y="10000760"/>
            <a:ext cx="1778000" cy="6223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0A5E3B16-D8D5-46F0-B99B-135072134E9D}"/>
              </a:ext>
            </a:extLst>
          </p:cNvPr>
          <p:cNvSpPr>
            <a:spLocks noGrp="1"/>
          </p:cNvSpPr>
          <p:nvPr/>
        </p:nvSpPr>
        <p:spPr>
          <a:xfrm>
            <a:off x="1951887" y="101150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중첩 처리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0592028-9809-4D39-9F8B-7A3920C26036}"/>
              </a:ext>
            </a:extLst>
          </p:cNvPr>
          <p:cNvSpPr>
            <a:spLocks noGrp="1"/>
          </p:cNvSpPr>
          <p:nvPr/>
        </p:nvSpPr>
        <p:spPr>
          <a:xfrm>
            <a:off x="3813902" y="1015316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최대 중첩(+99)까지 채우고 초과 수량을 다음 슬롯에 분배</a:t>
            </a:r>
          </a:p>
        </p:txBody>
      </p:sp>
      <p:pic>
        <p:nvPicPr>
          <p:cNvPr id="8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10584960"/>
            <a:ext cx="6578600" cy="50800"/>
          </a:xfrm>
          <a:prstGeom prst="rect">
            <a:avLst/>
          </a:prstGeom>
        </p:spPr>
      </p:pic>
      <p:pic>
        <p:nvPicPr>
          <p:cNvPr id="8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7287" y="10711960"/>
            <a:ext cx="1778000" cy="6223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B7B2F940-4AC5-4DF7-8629-ED8292FAD2F1}"/>
              </a:ext>
            </a:extLst>
          </p:cNvPr>
          <p:cNvSpPr>
            <a:spLocks noGrp="1"/>
          </p:cNvSpPr>
          <p:nvPr/>
        </p:nvSpPr>
        <p:spPr>
          <a:xfrm>
            <a:off x="1951887" y="108135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이동·병합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EF3725B-6791-44B7-BC9A-9537E15457B4}"/>
              </a:ext>
            </a:extLst>
          </p:cNvPr>
          <p:cNvSpPr>
            <a:spLocks noGrp="1"/>
          </p:cNvSpPr>
          <p:nvPr/>
        </p:nvSpPr>
        <p:spPr>
          <a:xfrm>
            <a:off x="3813902" y="1086436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대상 슬롯 상태에 따라 교환 또는 동일 소비 아이템 병합</a:t>
            </a:r>
          </a:p>
        </p:txBody>
      </p:sp>
      <p:pic>
        <p:nvPicPr>
          <p:cNvPr id="8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11283460"/>
            <a:ext cx="6578600" cy="50800"/>
          </a:xfrm>
          <a:prstGeom prst="rect">
            <a:avLst/>
          </a:prstGeom>
        </p:spPr>
      </p:pic>
      <p:pic>
        <p:nvPicPr>
          <p:cNvPr id="8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287" y="11423160"/>
            <a:ext cx="1778000" cy="622300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146D0A2A-4F33-41FF-9053-08C720640283}"/>
              </a:ext>
            </a:extLst>
          </p:cNvPr>
          <p:cNvSpPr>
            <a:spLocks noGrp="1"/>
          </p:cNvSpPr>
          <p:nvPr/>
        </p:nvSpPr>
        <p:spPr>
          <a:xfrm>
            <a:off x="1951887" y="115247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수량 분할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3FB0E12-44AB-4CD9-82FD-95B79467C7FA}"/>
              </a:ext>
            </a:extLst>
          </p:cNvPr>
          <p:cNvSpPr>
            <a:spLocks noGrp="1"/>
          </p:cNvSpPr>
          <p:nvPr/>
        </p:nvSpPr>
        <p:spPr>
          <a:xfrm>
            <a:off x="3813902" y="1157556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지정 수량만큼 새로운 소비 아이템 인스턴스를 생성</a:t>
            </a:r>
          </a:p>
        </p:txBody>
      </p:sp>
      <p:pic>
        <p:nvPicPr>
          <p:cNvPr id="9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11994660"/>
            <a:ext cx="6578600" cy="50800"/>
          </a:xfrm>
          <a:prstGeom prst="rect">
            <a:avLst/>
          </a:prstGeom>
        </p:spPr>
      </p:pic>
      <p:pic>
        <p:nvPicPr>
          <p:cNvPr id="9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7287" y="12134360"/>
            <a:ext cx="1778000" cy="1016000"/>
          </a:xfrm>
          <a:prstGeom prst="rect">
            <a:avLst/>
          </a:prstGeom>
        </p:spPr>
      </p:pic>
      <p:sp>
        <p:nvSpPr>
          <p:cNvPr id="24" name="TextBox 24">
            <a:extLst>
              <a:ext uri="{FF2B5EF4-FFF2-40B4-BE49-F238E27FC236}">
                <a16:creationId xmlns:a16="http://schemas.microsoft.com/office/drawing/2014/main" id="{36F527E1-A6A0-40BE-8EEA-FB8F81BC8C4F}"/>
              </a:ext>
            </a:extLst>
          </p:cNvPr>
          <p:cNvSpPr>
            <a:spLocks noGrp="1"/>
          </p:cNvSpPr>
          <p:nvPr/>
        </p:nvSpPr>
        <p:spPr>
          <a:xfrm>
            <a:off x="1951887" y="124391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정렬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16B7C01-F0C9-42F6-B6F3-D921671CB28C}"/>
              </a:ext>
            </a:extLst>
          </p:cNvPr>
          <p:cNvSpPr>
            <a:spLocks noGrp="1"/>
          </p:cNvSpPr>
          <p:nvPr/>
        </p:nvSpPr>
        <p:spPr>
          <a:xfrm>
            <a:off x="3813902" y="12274060"/>
            <a:ext cx="6654800" cy="787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IComparer&lt;T&gt; 인터페이스를 구현하여 전략패턴으로
아이템의 타입·등급·ID별 비교 기준을 분리</a:t>
            </a:r>
          </a:p>
        </p:txBody>
      </p:sp>
      <p:pic>
        <p:nvPicPr>
          <p:cNvPr id="9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13099560"/>
            <a:ext cx="6578600" cy="50800"/>
          </a:xfrm>
          <a:prstGeom prst="rect">
            <a:avLst/>
          </a:prstGeom>
        </p:spPr>
      </p:pic>
      <p:pic>
        <p:nvPicPr>
          <p:cNvPr id="97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76304" y="9359900"/>
            <a:ext cx="1778000" cy="6731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C9C7F8EF-7BFF-4568-AC46-FC39BE4EAFA3}"/>
              </a:ext>
            </a:extLst>
          </p:cNvPr>
          <p:cNvSpPr>
            <a:spLocks noGrp="1"/>
          </p:cNvSpPr>
          <p:nvPr/>
        </p:nvSpPr>
        <p:spPr>
          <a:xfrm>
            <a:off x="13550904" y="94996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슬롯 판별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148BB7E-1EF4-4474-B381-DB1839CA7FD6}"/>
              </a:ext>
            </a:extLst>
          </p:cNvPr>
          <p:cNvSpPr>
            <a:spLocks noGrp="1"/>
          </p:cNvSpPr>
          <p:nvPr/>
        </p:nvSpPr>
        <p:spPr>
          <a:xfrm>
            <a:off x="15430504" y="9563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GraphicRaycaster로 포인터 아래의 슬롯을 탐색</a:t>
            </a:r>
          </a:p>
        </p:txBody>
      </p:sp>
      <p:pic>
        <p:nvPicPr>
          <p:cNvPr id="10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9994900"/>
            <a:ext cx="6578600" cy="50800"/>
          </a:xfrm>
          <a:prstGeom prst="rect">
            <a:avLst/>
          </a:prstGeom>
        </p:spPr>
      </p:pic>
      <p:pic>
        <p:nvPicPr>
          <p:cNvPr id="10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76304" y="10121900"/>
            <a:ext cx="1778000" cy="673100"/>
          </a:xfrm>
          <a:prstGeom prst="rect">
            <a:avLst/>
          </a:prstGeom>
        </p:spPr>
      </p:pic>
      <p:sp>
        <p:nvSpPr>
          <p:cNvPr id="32" name="TextBox 32">
            <a:extLst>
              <a:ext uri="{FF2B5EF4-FFF2-40B4-BE49-F238E27FC236}">
                <a16:creationId xmlns:a16="http://schemas.microsoft.com/office/drawing/2014/main" id="{5697C284-07C7-4EF6-8E5B-B56F79119763}"/>
              </a:ext>
            </a:extLst>
          </p:cNvPr>
          <p:cNvSpPr>
            <a:spLocks noGrp="1"/>
          </p:cNvSpPr>
          <p:nvPr/>
        </p:nvSpPr>
        <p:spPr>
          <a:xfrm>
            <a:off x="13550904" y="102489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드래그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9A3756F5-6CFA-4030-8499-75A20B777D3C}"/>
              </a:ext>
            </a:extLst>
          </p:cNvPr>
          <p:cNvSpPr>
            <a:spLocks noGrp="1"/>
          </p:cNvSpPr>
          <p:nvPr/>
        </p:nvSpPr>
        <p:spPr>
          <a:xfrm>
            <a:off x="15430504" y="10325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32800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드래그 </a:t>
            </a:r>
            <a:r>
              <a:rPr sz="2000" b="0" i="0" u="none" dirty="0" err="1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드롭</a:t>
            </a:r>
            <a:r>
              <a:rPr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위치</a:t>
            </a:r>
            <a:r>
              <a:rPr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에 </a:t>
            </a:r>
            <a:r>
              <a:rPr sz="2000" b="0" i="0" u="none" dirty="0" err="1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따라</a:t>
            </a:r>
            <a:r>
              <a:rPr sz="2000" b="0" i="0" u="none" dirty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00" b="0" i="0" u="none" dirty="0" err="1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이동·병합·</a:t>
            </a:r>
            <a:r>
              <a:rPr sz="2000" b="0" i="0" u="none" dirty="0" err="1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교환</a:t>
            </a:r>
            <a:r>
              <a:rPr lang="ko-KR" altLang="en-US" sz="2000" dirty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2000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·</a:t>
            </a:r>
            <a:r>
              <a:rPr lang="ko-KR" altLang="en-US" sz="2000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삭제</a:t>
            </a:r>
            <a:r>
              <a:rPr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00" b="0" i="0" u="none" dirty="0" err="1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기능</a:t>
            </a:r>
            <a:endParaRPr sz="2000" b="0" i="0" u="none" dirty="0">
              <a:solidFill>
                <a:srgbClr val="2B2B2B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0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10744200"/>
            <a:ext cx="6578600" cy="50800"/>
          </a:xfrm>
          <a:prstGeom prst="rect">
            <a:avLst/>
          </a:prstGeom>
        </p:spPr>
      </p:pic>
      <p:pic>
        <p:nvPicPr>
          <p:cNvPr id="10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76304" y="10883900"/>
            <a:ext cx="1778000" cy="673100"/>
          </a:xfrm>
          <a:prstGeom prst="rect">
            <a:avLst/>
          </a:prstGeom>
        </p:spPr>
      </p:pic>
      <p:sp>
        <p:nvSpPr>
          <p:cNvPr id="36" name="TextBox 36">
            <a:extLst>
              <a:ext uri="{FF2B5EF4-FFF2-40B4-BE49-F238E27FC236}">
                <a16:creationId xmlns:a16="http://schemas.microsoft.com/office/drawing/2014/main" id="{F57D9724-34DD-417E-8F2C-E471120AFA54}"/>
              </a:ext>
            </a:extLst>
          </p:cNvPr>
          <p:cNvSpPr>
            <a:spLocks noGrp="1"/>
          </p:cNvSpPr>
          <p:nvPr/>
        </p:nvSpPr>
        <p:spPr>
          <a:xfrm>
            <a:off x="13550904" y="110109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수량 분할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A82A8ED-BF1D-4E57-847B-B8F81B3929CD}"/>
              </a:ext>
            </a:extLst>
          </p:cNvPr>
          <p:cNvSpPr>
            <a:spLocks noGrp="1"/>
          </p:cNvSpPr>
          <p:nvPr/>
        </p:nvSpPr>
        <p:spPr>
          <a:xfrm>
            <a:off x="15430504" y="11087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Ctrl·Shift 드래그 시 수량 입력 팝업을 표시</a:t>
            </a:r>
          </a:p>
        </p:txBody>
      </p:sp>
      <p:pic>
        <p:nvPicPr>
          <p:cNvPr id="10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11506200"/>
            <a:ext cx="6578600" cy="50800"/>
          </a:xfrm>
          <a:prstGeom prst="rect">
            <a:avLst/>
          </a:prstGeom>
        </p:spPr>
      </p:pic>
      <p:pic>
        <p:nvPicPr>
          <p:cNvPr id="109" name="Pictur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76304" y="11645900"/>
            <a:ext cx="1778000" cy="673100"/>
          </a:xfrm>
          <a:prstGeom prst="rect">
            <a:avLst/>
          </a:prstGeom>
        </p:spPr>
      </p:pic>
      <p:sp>
        <p:nvSpPr>
          <p:cNvPr id="40" name="TextBox 40">
            <a:extLst>
              <a:ext uri="{FF2B5EF4-FFF2-40B4-BE49-F238E27FC236}">
                <a16:creationId xmlns:a16="http://schemas.microsoft.com/office/drawing/2014/main" id="{39C5B761-6EAA-4FC6-80E6-53F52ED77292}"/>
              </a:ext>
            </a:extLst>
          </p:cNvPr>
          <p:cNvSpPr>
            <a:spLocks noGrp="1"/>
          </p:cNvSpPr>
          <p:nvPr/>
        </p:nvSpPr>
        <p:spPr>
          <a:xfrm>
            <a:off x="13550904" y="117729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툴팁UI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8605CCFA-D3FC-47D8-B406-4E9BF5DB83C0}"/>
              </a:ext>
            </a:extLst>
          </p:cNvPr>
          <p:cNvSpPr>
            <a:spLocks noGrp="1"/>
          </p:cNvSpPr>
          <p:nvPr/>
        </p:nvSpPr>
        <p:spPr>
          <a:xfrm>
            <a:off x="15430504" y="11849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아이템 정보와 장착 장비의 능력치 증감량 차이를 비교</a:t>
            </a:r>
          </a:p>
        </p:txBody>
      </p:sp>
      <p:pic>
        <p:nvPicPr>
          <p:cNvPr id="112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12268200"/>
            <a:ext cx="6578600" cy="50800"/>
          </a:xfrm>
          <a:prstGeom prst="rect">
            <a:avLst/>
          </a:prstGeom>
        </p:spPr>
      </p:pic>
      <p:pic>
        <p:nvPicPr>
          <p:cNvPr id="113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76304" y="12407900"/>
            <a:ext cx="1778000" cy="673100"/>
          </a:xfrm>
          <a:prstGeom prst="rect">
            <a:avLst/>
          </a:prstGeom>
        </p:spPr>
      </p:pic>
      <p:sp>
        <p:nvSpPr>
          <p:cNvPr id="44" name="TextBox 44">
            <a:extLst>
              <a:ext uri="{FF2B5EF4-FFF2-40B4-BE49-F238E27FC236}">
                <a16:creationId xmlns:a16="http://schemas.microsoft.com/office/drawing/2014/main" id="{4B2A3108-CFD1-49BA-93F7-2A33EDC9EE31}"/>
              </a:ext>
            </a:extLst>
          </p:cNvPr>
          <p:cNvSpPr>
            <a:spLocks noGrp="1"/>
          </p:cNvSpPr>
          <p:nvPr/>
        </p:nvSpPr>
        <p:spPr>
          <a:xfrm>
            <a:off x="13550904" y="125349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시각 피드백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1A68158-9B25-46E7-B43B-29FFE15116BA}"/>
              </a:ext>
            </a:extLst>
          </p:cNvPr>
          <p:cNvSpPr>
            <a:spLocks noGrp="1"/>
          </p:cNvSpPr>
          <p:nvPr/>
        </p:nvSpPr>
        <p:spPr>
          <a:xfrm>
            <a:off x="15430504" y="12611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아이콘·수량·하이라이트·신규 획득 아이템 표시를 갱신</a:t>
            </a:r>
          </a:p>
        </p:txBody>
      </p:sp>
      <p:pic>
        <p:nvPicPr>
          <p:cNvPr id="116" name="Picture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13030200"/>
            <a:ext cx="6578600" cy="50800"/>
          </a:xfrm>
          <a:prstGeom prst="rect">
            <a:avLst/>
          </a:prstGeom>
        </p:spPr>
      </p:pic>
      <p:pic>
        <p:nvPicPr>
          <p:cNvPr id="118" name="Picture 4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3141230"/>
            <a:ext cx="10020300" cy="56174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0" name="Picture 5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200" y="3214198"/>
            <a:ext cx="10020300" cy="5649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4229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E32E9CE6-C890-440A-AD72-B5F200D82A99}"/>
              </a:ext>
            </a:extLst>
          </p:cNvPr>
          <p:cNvSpPr>
            <a:spLocks noGrp="1"/>
          </p:cNvSpPr>
          <p:nvPr/>
        </p:nvSpPr>
        <p:spPr>
          <a:xfrm>
            <a:off x="1130300" y="37084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장비 장착 및 변경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EB92B0-3576-40D8-A3A1-9586DA24EC72}"/>
              </a:ext>
            </a:extLst>
          </p:cNvPr>
          <p:cNvSpPr>
            <a:spLocks noGrp="1"/>
          </p:cNvSpPr>
          <p:nvPr/>
        </p:nvSpPr>
        <p:spPr>
          <a:xfrm>
            <a:off x="1181100" y="4711700"/>
            <a:ext cx="94615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인벤토리에서 무기를 장착하면 EquipmentData에 등록된 프리팹을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 오브젝트의 HandSocket에 동적생성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C8EACAC-0FF0-4848-8EF2-FF843FA7BC45}"/>
              </a:ext>
            </a:extLst>
          </p:cNvPr>
          <p:cNvSpPr>
            <a:spLocks noGrp="1"/>
          </p:cNvSpPr>
          <p:nvPr/>
        </p:nvSpPr>
        <p:spPr>
          <a:xfrm>
            <a:off x="1282700" y="6858000"/>
            <a:ext cx="9436100" cy="2006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무기 스왑 시에는 프리팹을 다시 생성하지 않고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주·보조 무기 오브젝트의 활성 상태를 전환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현재 무기 데이터와 HUD 표기 무기 아이콘,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플레이어의 스탯 능력치 갱신</a:t>
            </a:r>
          </a:p>
        </p:txBody>
      </p:sp>
      <p:pic>
        <p:nvPicPr>
          <p:cNvPr id="21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26E4450-2C8B-4C36-B2CE-54857A4EBDFD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768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C55A971-3D72-41AC-A8D4-17E7BE8491D0}"/>
              </a:ext>
            </a:extLst>
          </p:cNvPr>
          <p:cNvSpPr>
            <a:spLocks noGrp="1"/>
          </p:cNvSpPr>
          <p:nvPr/>
        </p:nvSpPr>
        <p:spPr>
          <a:xfrm>
            <a:off x="58039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-장비 장착 / 스왑 시스템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4870694-FDD2-4F38-A66B-62368262D5FE}"/>
              </a:ext>
            </a:extLst>
          </p:cNvPr>
          <p:cNvSpPr>
            <a:spLocks noGrp="1"/>
          </p:cNvSpPr>
          <p:nvPr/>
        </p:nvSpPr>
        <p:spPr>
          <a:xfrm>
            <a:off x="685800" y="10617200"/>
            <a:ext cx="9766300" cy="977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무기마다 차별화된 능력치와 전투 액션·애니메이션·VFX를 적용해, 
무기 교체로 각기 다른  전투 스타일과 플레이 경험을 구현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F8EA457-98FA-4DB6-A3E1-179F6591B29A}"/>
              </a:ext>
            </a:extLst>
          </p:cNvPr>
          <p:cNvSpPr>
            <a:spLocks noGrp="1"/>
          </p:cNvSpPr>
          <p:nvPr/>
        </p:nvSpPr>
        <p:spPr>
          <a:xfrm>
            <a:off x="1130300" y="61595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주/보조 무기 스왑</a:t>
            </a:r>
          </a:p>
        </p:txBody>
      </p:sp>
      <p:pic>
        <p:nvPicPr>
          <p:cNvPr id="26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5300" y="2032000"/>
            <a:ext cx="6057900" cy="7531100"/>
          </a:xfrm>
          <a:prstGeom prst="rect">
            <a:avLst/>
          </a:prstGeom>
        </p:spPr>
      </p:pic>
      <p:pic>
        <p:nvPicPr>
          <p:cNvPr id="27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4400" y="2451100"/>
            <a:ext cx="5334000" cy="6781800"/>
          </a:xfrm>
          <a:prstGeom prst="rect">
            <a:avLst/>
          </a:prstGeom>
        </p:spPr>
      </p:pic>
      <p:pic>
        <p:nvPicPr>
          <p:cNvPr id="28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7000" y="3962400"/>
            <a:ext cx="8115300" cy="9321800"/>
          </a:xfrm>
          <a:prstGeom prst="rect">
            <a:avLst/>
          </a:prstGeom>
        </p:spPr>
      </p:pic>
      <p:pic>
        <p:nvPicPr>
          <p:cNvPr id="29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0" y="4229100"/>
            <a:ext cx="7594600" cy="89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2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184900" y="-5219700"/>
            <a:ext cx="12852400" cy="24168100"/>
          </a:xfrm>
          <a:prstGeom prst="rect">
            <a:avLst/>
          </a:prstGeom>
        </p:spPr>
      </p:pic>
      <p:pic>
        <p:nvPicPr>
          <p:cNvPr id="3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ACA6F5D5-D374-4D67-B3E6-25CBD1744532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768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4AA93A9-9673-48D8-A5B2-497CD616840A}"/>
              </a:ext>
            </a:extLst>
          </p:cNvPr>
          <p:cNvSpPr>
            <a:spLocks noGrp="1"/>
          </p:cNvSpPr>
          <p:nvPr/>
        </p:nvSpPr>
        <p:spPr>
          <a:xfrm>
            <a:off x="6121400" y="10922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-Observer 패턴 기반 HUD 갱신과 주요 UI 기능 구현</a:t>
            </a:r>
          </a:p>
        </p:txBody>
      </p:sp>
      <p:pic>
        <p:nvPicPr>
          <p:cNvPr id="35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0375900"/>
            <a:ext cx="5689600" cy="26797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00AE51C8-F124-422C-AA96-BB30987326B9}"/>
              </a:ext>
            </a:extLst>
          </p:cNvPr>
          <p:cNvSpPr>
            <a:spLocks noGrp="1"/>
          </p:cNvSpPr>
          <p:nvPr/>
        </p:nvSpPr>
        <p:spPr>
          <a:xfrm>
            <a:off x="914400" y="10655300"/>
            <a:ext cx="3429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72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HUD / 스탯 창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0708F6E-31F6-4FD7-A1B9-C2B842D01071}"/>
              </a:ext>
            </a:extLst>
          </p:cNvPr>
          <p:cNvSpPr>
            <a:spLocks noGrp="1"/>
          </p:cNvSpPr>
          <p:nvPr/>
        </p:nvSpPr>
        <p:spPr>
          <a:xfrm>
            <a:off x="914400" y="11137900"/>
            <a:ext cx="4826000" cy="838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체력·스태미나,레벨 등 플레이어 상태와 </a:t>
            </a:r>
          </a:p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장착 무기·소비 아이템 퀵슬롯을 표시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C8B595-4123-45CC-A32E-6D854B842D62}"/>
              </a:ext>
            </a:extLst>
          </p:cNvPr>
          <p:cNvSpPr>
            <a:spLocks noGrp="1"/>
          </p:cNvSpPr>
          <p:nvPr/>
        </p:nvSpPr>
        <p:spPr>
          <a:xfrm>
            <a:off x="1219200" y="3327400"/>
            <a:ext cx="9829800" cy="180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무기뿐 아니라 체력·스태미나·레벨·골드·스탯 등</a:t>
            </a:r>
          </a:p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여러 상태가 변경되기 때문에, 게임 로직이 개별 UI를 </a:t>
            </a:r>
          </a:p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직접 참조하지 않도록 이벤트 기반 갱신 구조를 적용</a:t>
            </a:r>
          </a:p>
        </p:txBody>
      </p:sp>
      <p:pic>
        <p:nvPicPr>
          <p:cNvPr id="39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700" y="10375900"/>
            <a:ext cx="5588000" cy="26797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B62B192E-D38D-46BE-AF80-4C51D1F4E19B}"/>
              </a:ext>
            </a:extLst>
          </p:cNvPr>
          <p:cNvSpPr>
            <a:spLocks noGrp="1"/>
          </p:cNvSpPr>
          <p:nvPr/>
        </p:nvSpPr>
        <p:spPr>
          <a:xfrm>
            <a:off x="6756400" y="10655300"/>
            <a:ext cx="3429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72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상점 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DBAD02A-3F04-4BB3-813B-E6DDCEB30091}"/>
              </a:ext>
            </a:extLst>
          </p:cNvPr>
          <p:cNvSpPr>
            <a:spLocks noGrp="1"/>
          </p:cNvSpPr>
          <p:nvPr/>
        </p:nvSpPr>
        <p:spPr>
          <a:xfrm>
            <a:off x="6642100" y="11137900"/>
            <a:ext cx="4724400" cy="1282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보유 골드에 따른 아이템 구매·판매와</a:t>
            </a:r>
          </a:p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NPC 우호도에 따른 상품 해금 기능을 구현</a:t>
            </a:r>
          </a:p>
          <a:p>
            <a:pPr lvl="0" algn="l">
              <a:lnSpc>
                <a:spcPct val="132800"/>
              </a:lnSpc>
              <a:buNone/>
            </a:pPr>
            <a:endParaRPr sz="2133" b="0" i="0" u="none" spc="-100">
              <a:solidFill>
                <a:srgbClr val="000000">
                  <a:alpha val="80000"/>
                </a:srgbClr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42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10375900"/>
            <a:ext cx="5689600" cy="26035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9B968A17-5424-473D-8BD3-3B1CE80CEF50}"/>
              </a:ext>
            </a:extLst>
          </p:cNvPr>
          <p:cNvSpPr>
            <a:spLocks noGrp="1"/>
          </p:cNvSpPr>
          <p:nvPr/>
        </p:nvSpPr>
        <p:spPr>
          <a:xfrm>
            <a:off x="12611100" y="10655300"/>
            <a:ext cx="3429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72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사망 패널티 UI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9509F1-69D5-4FB1-B8B6-E04EC3137FD3}"/>
              </a:ext>
            </a:extLst>
          </p:cNvPr>
          <p:cNvSpPr>
            <a:spLocks noGrp="1"/>
          </p:cNvSpPr>
          <p:nvPr/>
        </p:nvSpPr>
        <p:spPr>
          <a:xfrm>
            <a:off x="12509500" y="11137900"/>
            <a:ext cx="5016500" cy="1282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보유 아이템 목록에서 일부를 선택해 보호하고, 선택하지 않은 아이템을 잃는</a:t>
            </a:r>
          </a:p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로그라이트 스타일의 아이템 패널티를 구현</a:t>
            </a:r>
          </a:p>
        </p:txBody>
      </p:sp>
      <p:pic>
        <p:nvPicPr>
          <p:cNvPr id="45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86400" y="10375900"/>
            <a:ext cx="5676900" cy="26035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3EADBC6C-E374-455C-8CCC-DF8C952ACC28}"/>
              </a:ext>
            </a:extLst>
          </p:cNvPr>
          <p:cNvSpPr>
            <a:spLocks noGrp="1"/>
          </p:cNvSpPr>
          <p:nvPr/>
        </p:nvSpPr>
        <p:spPr>
          <a:xfrm>
            <a:off x="18453100" y="10655300"/>
            <a:ext cx="3429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72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설정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42FA23C-6FE4-4794-9CD9-6230095DC522}"/>
              </a:ext>
            </a:extLst>
          </p:cNvPr>
          <p:cNvSpPr>
            <a:spLocks noGrp="1"/>
          </p:cNvSpPr>
          <p:nvPr/>
        </p:nvSpPr>
        <p:spPr>
          <a:xfrm>
            <a:off x="18453100" y="11353800"/>
            <a:ext cx="5041900" cy="838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해상도·화면 모드·사운드·마우스 감도를 설정,</a:t>
            </a:r>
          </a:p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적용한 값을 사용자 로컬 PlayerPrefs에 저장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133" b="0" i="0" u="none" spc="-100">
              <a:solidFill>
                <a:srgbClr val="000000">
                  <a:alpha val="80000"/>
                </a:srgbClr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F8D064F-1D89-4EBA-A934-13CE2579696C}"/>
              </a:ext>
            </a:extLst>
          </p:cNvPr>
          <p:cNvSpPr>
            <a:spLocks noGrp="1"/>
          </p:cNvSpPr>
          <p:nvPr/>
        </p:nvSpPr>
        <p:spPr>
          <a:xfrm>
            <a:off x="914400" y="12217400"/>
            <a:ext cx="4826000" cy="838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 레벨업 시 스탯 포인트를 지급하고
포인트를 소모하여 원하는 능력치를 성장</a:t>
            </a:r>
          </a:p>
        </p:txBody>
      </p:sp>
      <p:pic>
        <p:nvPicPr>
          <p:cNvPr id="49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00" y="6642100"/>
            <a:ext cx="5689600" cy="3759200"/>
          </a:xfrm>
          <a:prstGeom prst="rect">
            <a:avLst/>
          </a:prstGeom>
        </p:spPr>
      </p:pic>
      <p:pic>
        <p:nvPicPr>
          <p:cNvPr id="50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82500" y="6718300"/>
            <a:ext cx="5588000" cy="3759200"/>
          </a:xfrm>
          <a:prstGeom prst="rect">
            <a:avLst/>
          </a:prstGeom>
        </p:spPr>
      </p:pic>
      <p:pic>
        <p:nvPicPr>
          <p:cNvPr id="51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7800" y="6642100"/>
            <a:ext cx="5511800" cy="3759200"/>
          </a:xfrm>
          <a:prstGeom prst="rect">
            <a:avLst/>
          </a:prstGeom>
        </p:spPr>
      </p:pic>
      <p:pic>
        <p:nvPicPr>
          <p:cNvPr id="52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173700" y="6718300"/>
            <a:ext cx="5676900" cy="3670300"/>
          </a:xfrm>
          <a:prstGeom prst="rect">
            <a:avLst/>
          </a:prstGeom>
        </p:spPr>
      </p:pic>
      <p:pic>
        <p:nvPicPr>
          <p:cNvPr id="53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79300" y="1905000"/>
            <a:ext cx="10972800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0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794000"/>
            <a:ext cx="10833100" cy="1803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AB1B634-4BA3-4818-8FE7-ACFB6B5AF218}"/>
              </a:ext>
            </a:extLst>
          </p:cNvPr>
          <p:cNvSpPr>
            <a:spLocks noGrp="1"/>
          </p:cNvSpPr>
          <p:nvPr/>
        </p:nvSpPr>
        <p:spPr>
          <a:xfrm>
            <a:off x="12573000" y="29464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현상-HUD UI 버그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ECE600E-74DD-4F58-8EE2-25BA67DEE594}"/>
              </a:ext>
            </a:extLst>
          </p:cNvPr>
          <p:cNvSpPr>
            <a:spLocks noGrp="1"/>
          </p:cNvSpPr>
          <p:nvPr/>
        </p:nvSpPr>
        <p:spPr>
          <a:xfrm>
            <a:off x="12585700" y="34671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전투 중 데미지를 입지 않거나 동일한 몬스터에게 같은 대미지를 받았음에도, 플레이어의 HUD 체력바 감소 폭이 불규칙하게 보이는 버그가 발생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5B01CF-2289-4E8E-9AA7-2BEE3122D279}"/>
              </a:ext>
            </a:extLst>
          </p:cNvPr>
          <p:cNvSpPr>
            <a:spLocks noGrp="1"/>
          </p:cNvSpPr>
          <p:nvPr/>
        </p:nvSpPr>
        <p:spPr>
          <a:xfrm>
            <a:off x="1111250" y="816535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B8CC02-CC73-4220-B6C5-A282CD817010}"/>
              </a:ext>
            </a:extLst>
          </p:cNvPr>
          <p:cNvSpPr>
            <a:spLocks noGrp="1"/>
          </p:cNvSpPr>
          <p:nvPr/>
        </p:nvSpPr>
        <p:spPr>
          <a:xfrm>
            <a:off x="4400550" y="11303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-HUD버그와 QA 협업 개발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0900" y="9499600"/>
            <a:ext cx="10934700" cy="36322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E4471BE-4EDA-4051-BE42-AA56E8E751A6}"/>
              </a:ext>
            </a:extLst>
          </p:cNvPr>
          <p:cNvSpPr>
            <a:spLocks noGrp="1"/>
          </p:cNvSpPr>
          <p:nvPr/>
        </p:nvSpPr>
        <p:spPr>
          <a:xfrm>
            <a:off x="12458700" y="9626600"/>
            <a:ext cx="5613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해결-QA팀원과의 협업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3A473F7-3AAA-4D8E-B23F-C010D0E32E0A}"/>
              </a:ext>
            </a:extLst>
          </p:cNvPr>
          <p:cNvSpPr>
            <a:spLocks noGrp="1"/>
          </p:cNvSpPr>
          <p:nvPr/>
        </p:nvSpPr>
        <p:spPr>
          <a:xfrm>
            <a:off x="12458700" y="10680700"/>
            <a:ext cx="10655300" cy="182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QA담당자와 아이템의 옵션에 대한 밸런싱을 논의하여, 무기 옵션에 체력 증가가 필요한지와 옵션 수치가 플레이어의 전투 인지에 미치는 영향을 함께 검토 무기의 체력 증가 옵션을 전투 중 스왑을 하지 않는 방어구으로 재배치하고, 무기 스왑 전후의 체력 비율을 확인하는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QA 테스트케이스를 추가</a:t>
            </a:r>
          </a:p>
        </p:txBody>
      </p:sp>
      <p:pic>
        <p:nvPicPr>
          <p:cNvPr id="3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8700" y="5295900"/>
            <a:ext cx="10756900" cy="36322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B8A7D7FB-65DD-4E41-BC9A-16ED68CCFD4E}"/>
              </a:ext>
            </a:extLst>
          </p:cNvPr>
          <p:cNvSpPr>
            <a:spLocks noGrp="1"/>
          </p:cNvSpPr>
          <p:nvPr/>
        </p:nvSpPr>
        <p:spPr>
          <a:xfrm>
            <a:off x="12763500" y="5473700"/>
            <a:ext cx="60071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발견-QA 버그리뷰시트와 테스트케이스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98BCEB-CB1E-4720-824D-DF244D4FD6DA}"/>
              </a:ext>
            </a:extLst>
          </p:cNvPr>
          <p:cNvSpPr>
            <a:spLocks noGrp="1"/>
          </p:cNvSpPr>
          <p:nvPr/>
        </p:nvSpPr>
        <p:spPr>
          <a:xfrm>
            <a:off x="12763499" y="6223000"/>
            <a:ext cx="10114085" cy="2286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초기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테스트에서는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UI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출력부와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연산만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확인해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발생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찾지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못함</a:t>
            </a:r>
            <a:r>
              <a:rPr sz="2400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QA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담당자가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무기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교체와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피격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반복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테스트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장비의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HP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옵션에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따라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변경되면서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스왑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교체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) 시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데미지를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입지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않거나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대미지라도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고정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비율인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HUD의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감소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폭이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다르게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보이거나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무기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스왑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비정상적으로</a:t>
            </a:r>
            <a:endParaRPr lang="en-US" sz="2400" b="0" i="0" u="none" spc="-100" dirty="0" smtClean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감소한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것처럼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인식되는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현상을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발견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0" y="2324100"/>
            <a:ext cx="10833100" cy="10820400"/>
          </a:xfrm>
          <a:prstGeom prst="rect">
            <a:avLst/>
          </a:prstGeom>
        </p:spPr>
      </p:pic>
      <p:pic>
        <p:nvPicPr>
          <p:cNvPr id="3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300" y="2794000"/>
            <a:ext cx="10223500" cy="3797300"/>
          </a:xfrm>
          <a:prstGeom prst="rect">
            <a:avLst/>
          </a:prstGeom>
        </p:spPr>
      </p:pic>
      <p:pic>
        <p:nvPicPr>
          <p:cNvPr id="3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4300" y="6807200"/>
            <a:ext cx="102235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9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884615"/>
            <a:ext cx="12852400" cy="23533100"/>
          </a:xfrm>
          <a:prstGeom prst="rect">
            <a:avLst/>
          </a:prstGeom>
        </p:spPr>
      </p:pic>
      <p:pic>
        <p:nvPicPr>
          <p:cNvPr id="3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39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3213100"/>
            <a:ext cx="10261600" cy="1803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6D0C8F1-68CE-4719-885F-97A480E7D556}"/>
              </a:ext>
            </a:extLst>
          </p:cNvPr>
          <p:cNvSpPr>
            <a:spLocks noGrp="1"/>
          </p:cNvSpPr>
          <p:nvPr/>
        </p:nvSpPr>
        <p:spPr>
          <a:xfrm>
            <a:off x="1244599" y="3365500"/>
            <a:ext cx="5472723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문제상황-대량의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</a:t>
            </a:r>
            <a:endParaRPr sz="2933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AA37AEE-E62C-4993-94F4-5BCE10B432DB}"/>
              </a:ext>
            </a:extLst>
          </p:cNvPr>
          <p:cNvSpPr>
            <a:spLocks noGrp="1"/>
          </p:cNvSpPr>
          <p:nvPr/>
        </p:nvSpPr>
        <p:spPr>
          <a:xfrm>
            <a:off x="1244600" y="3886200"/>
            <a:ext cx="88900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아이템마다 ScriptableObject 에셋을 만들고 값을 개별 입력하여,
 아이템 수가 늘어날수록 데이터 수정·비교와 밸런싱 작업의 어려움 발생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7BB1EAF-7DAB-40FC-A47A-4DE6A6E9B06D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1CE9C9-BB67-432F-A06F-C8F1A72D65AA}"/>
              </a:ext>
            </a:extLst>
          </p:cNvPr>
          <p:cNvSpPr>
            <a:spLocks noGrp="1"/>
          </p:cNvSpPr>
          <p:nvPr/>
        </p:nvSpPr>
        <p:spPr>
          <a:xfrm>
            <a:off x="44069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-아이템 데이터 관리 (동적 </a:t>
            </a: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ScriptableObject 생성)</a:t>
            </a:r>
          </a:p>
        </p:txBody>
      </p:sp>
      <p:pic>
        <p:nvPicPr>
          <p:cNvPr id="44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10299700"/>
            <a:ext cx="10248900" cy="25146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6C40AAEF-B8C9-4980-AA15-E47E07C2350D}"/>
              </a:ext>
            </a:extLst>
          </p:cNvPr>
          <p:cNvSpPr>
            <a:spLocks noGrp="1"/>
          </p:cNvSpPr>
          <p:nvPr/>
        </p:nvSpPr>
        <p:spPr>
          <a:xfrm>
            <a:off x="1130300" y="10553700"/>
            <a:ext cx="58420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결과-데이터 관리 효율 및 편의성 증가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09FFA8-D869-4C30-AD07-853889CE8114}"/>
              </a:ext>
            </a:extLst>
          </p:cNvPr>
          <p:cNvSpPr>
            <a:spLocks noGrp="1"/>
          </p:cNvSpPr>
          <p:nvPr/>
        </p:nvSpPr>
        <p:spPr>
          <a:xfrm>
            <a:off x="1244600" y="11099800"/>
            <a:ext cx="9232900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 SO를 새로 생성하거나 수정할 아이템의 필드를 하나씩 찾을 필요없이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새로운 아이템은 CSV에 행을 추가하는 방식으로 등록하고,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장비 능력치·가격·효과 값을  한 화면에서 비교하며 수정 가능</a:t>
            </a:r>
          </a:p>
        </p:txBody>
      </p:sp>
      <p:pic>
        <p:nvPicPr>
          <p:cNvPr id="47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100" y="5600700"/>
            <a:ext cx="10248900" cy="42164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7BC1DAD-0696-4610-9AC7-403C49B646F7}"/>
              </a:ext>
            </a:extLst>
          </p:cNvPr>
          <p:cNvSpPr>
            <a:spLocks noGrp="1"/>
          </p:cNvSpPr>
          <p:nvPr/>
        </p:nvSpPr>
        <p:spPr>
          <a:xfrm>
            <a:off x="1358900" y="5765800"/>
            <a:ext cx="5740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개선-CSV Table파일 파싱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E5826CA-F4D5-4623-8F8E-E94FB4FA965A}"/>
              </a:ext>
            </a:extLst>
          </p:cNvPr>
          <p:cNvSpPr>
            <a:spLocks noGrp="1"/>
          </p:cNvSpPr>
          <p:nvPr/>
        </p:nvSpPr>
        <p:spPr>
          <a:xfrm>
            <a:off x="1320800" y="6464300"/>
            <a:ext cx="9829800" cy="3200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Google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Sheets에서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작성한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CSV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파일을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원본으로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사용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
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타입을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로딩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코드로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처리하는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제네릭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파서를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구현하여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
CSV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헤더와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이름의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필드를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찾고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문자열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값을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해당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필드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타입으로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후 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할당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
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EquipmentData와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ConsumableData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런타임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ScriptableObject를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생성하고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프리팹은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CSV에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입력한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리소스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경로를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연결하도록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0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0" y="2095500"/>
            <a:ext cx="10985500" cy="5842000"/>
          </a:xfrm>
          <a:prstGeom prst="rect">
            <a:avLst/>
          </a:prstGeom>
        </p:spPr>
      </p:pic>
      <p:pic>
        <p:nvPicPr>
          <p:cNvPr id="51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0900" y="8851900"/>
            <a:ext cx="11150600" cy="4279900"/>
          </a:xfrm>
          <a:prstGeom prst="rect">
            <a:avLst/>
          </a:prstGeom>
        </p:spPr>
      </p:pic>
      <p:pic>
        <p:nvPicPr>
          <p:cNvPr id="52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0" y="10820400"/>
            <a:ext cx="8826500" cy="1968500"/>
          </a:xfrm>
          <a:prstGeom prst="rect">
            <a:avLst/>
          </a:prstGeom>
        </p:spPr>
      </p:pic>
      <p:pic>
        <p:nvPicPr>
          <p:cNvPr id="53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000" y="2235200"/>
            <a:ext cx="3797300" cy="5524500"/>
          </a:xfrm>
          <a:prstGeom prst="rect">
            <a:avLst/>
          </a:prstGeom>
        </p:spPr>
      </p:pic>
      <p:pic>
        <p:nvPicPr>
          <p:cNvPr id="54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59200" y="4191000"/>
            <a:ext cx="6883400" cy="3505200"/>
          </a:xfrm>
          <a:prstGeom prst="rect">
            <a:avLst/>
          </a:prstGeom>
        </p:spPr>
      </p:pic>
      <p:pic>
        <p:nvPicPr>
          <p:cNvPr id="55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44400" y="9093200"/>
            <a:ext cx="6565900" cy="2451100"/>
          </a:xfrm>
          <a:prstGeom prst="rect">
            <a:avLst/>
          </a:prstGeom>
        </p:spPr>
      </p:pic>
      <p:pic>
        <p:nvPicPr>
          <p:cNvPr id="56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703800" y="9817100"/>
            <a:ext cx="5511800" cy="2971800"/>
          </a:xfrm>
          <a:prstGeom prst="rect">
            <a:avLst/>
          </a:prstGeom>
        </p:spPr>
      </p:pic>
      <p:pic>
        <p:nvPicPr>
          <p:cNvPr id="57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399000" y="8077200"/>
            <a:ext cx="914400" cy="6223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7674B0BE-F609-40B9-B776-083500DA65F1}"/>
              </a:ext>
            </a:extLst>
          </p:cNvPr>
          <p:cNvSpPr>
            <a:spLocks noGrp="1"/>
          </p:cNvSpPr>
          <p:nvPr/>
        </p:nvSpPr>
        <p:spPr>
          <a:xfrm>
            <a:off x="17056100" y="2946400"/>
            <a:ext cx="58166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[기존] 파편화된 SO 데이터 관리 구조</a:t>
            </a:r>
          </a:p>
        </p:txBody>
      </p:sp>
    </p:spTree>
    <p:extLst>
      <p:ext uri="{BB962C8B-B14F-4D97-AF65-F5344CB8AC3E}">
        <p14:creationId xmlns:p14="http://schemas.microsoft.com/office/powerpoint/2010/main" val="89659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0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6908800"/>
            <a:ext cx="21526500" cy="381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AC46A42-FA8C-450D-87BA-95BBC4AF6838}"/>
              </a:ext>
            </a:extLst>
          </p:cNvPr>
          <p:cNvSpPr>
            <a:spLocks noGrp="1"/>
          </p:cNvSpPr>
          <p:nvPr/>
        </p:nvSpPr>
        <p:spPr>
          <a:xfrm>
            <a:off x="1562100" y="3911600"/>
            <a:ext cx="21285200" cy="2451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첫 팀 프로젝트 게임 개발로 아이템 구조와 인벤토리, HUD 등 다양한 게임 UI를 구현했습니다. 단순히 맡은 파트에만 집중한 것이 아닌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전투·몬스터와 같은 핵심 시스템을 담당한 팀원들과 데이터와 기능의 연결 방식을 조율하며 협업 개발을 진행했습니다. 
또한 QA 담당자와 테스트 결과를 공유하며 문제를 분석하고 개선 방향을 논의했으며, CSV 기반으로한 게임 내 데이터  관리 구조를 도입해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콘텐츠 확장과 유지보수를 고려한 설계 경험을 쌓았습니다.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8BAE011-D82B-4C04-BEFA-93B797840383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결과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B96EE35-542E-463C-9C39-2EA9ED77D638}"/>
              </a:ext>
            </a:extLst>
          </p:cNvPr>
          <p:cNvSpPr>
            <a:spLocks noGrp="1"/>
          </p:cNvSpPr>
          <p:nvPr/>
        </p:nvSpPr>
        <p:spPr>
          <a:xfrm>
            <a:off x="1562100" y="28194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회고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8210BF-6C6F-4D16-A363-68E133F2131D}"/>
              </a:ext>
            </a:extLst>
          </p:cNvPr>
          <p:cNvSpPr>
            <a:spLocks noGrp="1"/>
          </p:cNvSpPr>
          <p:nvPr/>
        </p:nvSpPr>
        <p:spPr>
          <a:xfrm>
            <a:off x="1562100" y="80772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참고 링크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CEAF72A-5E6A-4436-8075-C62183567925}"/>
              </a:ext>
            </a:extLst>
          </p:cNvPr>
          <p:cNvSpPr>
            <a:spLocks noGrp="1"/>
          </p:cNvSpPr>
          <p:nvPr/>
        </p:nvSpPr>
        <p:spPr>
          <a:xfrm>
            <a:off x="1562100" y="9017000"/>
            <a:ext cx="1422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깃허브 :</a:t>
            </a:r>
          </a:p>
        </p:txBody>
      </p:sp>
      <p:sp>
        <p:nvSpPr>
          <p:cNvPr id="10" name="TextBox 10">
            <a:hlinkClick r:id="rId6"/>
            <a:extLst>
              <a:ext uri="{FF2B5EF4-FFF2-40B4-BE49-F238E27FC236}">
                <a16:creationId xmlns:a16="http://schemas.microsoft.com/office/drawing/2014/main" id="{1C5675AB-3F96-48D8-9879-8CF88B61AE5F}"/>
              </a:ext>
            </a:extLst>
          </p:cNvPr>
          <p:cNvSpPr>
            <a:spLocks noGrp="1"/>
          </p:cNvSpPr>
          <p:nvPr/>
        </p:nvSpPr>
        <p:spPr>
          <a:xfrm>
            <a:off x="3073400" y="9017000"/>
            <a:ext cx="124714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https://github.com/coldwater1346-cpu/Nirvana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49C5E11-25CD-4B28-BCFB-EB0D4657166A}"/>
              </a:ext>
            </a:extLst>
          </p:cNvPr>
          <p:cNvSpPr>
            <a:spLocks noGrp="1"/>
          </p:cNvSpPr>
          <p:nvPr/>
        </p:nvSpPr>
        <p:spPr>
          <a:xfrm>
            <a:off x="1562100" y="9753600"/>
            <a:ext cx="2184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기획서 : </a:t>
            </a:r>
          </a:p>
        </p:txBody>
      </p:sp>
      <p:sp>
        <p:nvSpPr>
          <p:cNvPr id="12" name="TextBox 12">
            <a:hlinkClick r:id="rId6"/>
            <a:extLst>
              <a:ext uri="{FF2B5EF4-FFF2-40B4-BE49-F238E27FC236}">
                <a16:creationId xmlns:a16="http://schemas.microsoft.com/office/drawing/2014/main" id="{609DC213-4AFC-4963-A829-A7DF0DBEB9CB}"/>
              </a:ext>
            </a:extLst>
          </p:cNvPr>
          <p:cNvSpPr>
            <a:spLocks noGrp="1"/>
          </p:cNvSpPr>
          <p:nvPr/>
        </p:nvSpPr>
        <p:spPr>
          <a:xfrm>
            <a:off x="3467100" y="97536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https://app.notion.com/p/3c9aa1b05e3e80018318e5998d727112?source=copy_link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5B68B78-318A-4915-995C-09547741CD1C}"/>
              </a:ext>
            </a:extLst>
          </p:cNvPr>
          <p:cNvSpPr>
            <a:spLocks noGrp="1"/>
          </p:cNvSpPr>
          <p:nvPr/>
        </p:nvSpPr>
        <p:spPr>
          <a:xfrm>
            <a:off x="1562100" y="10477500"/>
            <a:ext cx="3009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포트폴리오 영상 : </a:t>
            </a:r>
          </a:p>
        </p:txBody>
      </p:sp>
      <p:sp>
        <p:nvSpPr>
          <p:cNvPr id="14" name="TextBox 14">
            <a:hlinkClick r:id="rId6"/>
            <a:extLst>
              <a:ext uri="{FF2B5EF4-FFF2-40B4-BE49-F238E27FC236}">
                <a16:creationId xmlns:a16="http://schemas.microsoft.com/office/drawing/2014/main" id="{DC778EDD-00C8-4949-B7E9-E1775B218C8D}"/>
              </a:ext>
            </a:extLst>
          </p:cNvPr>
          <p:cNvSpPr>
            <a:spLocks noGrp="1"/>
          </p:cNvSpPr>
          <p:nvPr/>
        </p:nvSpPr>
        <p:spPr>
          <a:xfrm>
            <a:off x="4152900" y="104775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https://youtu.be/CYJDA1u8YuU</a:t>
            </a:r>
          </a:p>
        </p:txBody>
      </p:sp>
    </p:spTree>
    <p:extLst>
      <p:ext uri="{BB962C8B-B14F-4D97-AF65-F5344CB8AC3E}">
        <p14:creationId xmlns:p14="http://schemas.microsoft.com/office/powerpoint/2010/main" val="128024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2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9999">
            <a:off x="7251700" y="7607300"/>
            <a:ext cx="10096500" cy="38100"/>
          </a:xfrm>
          <a:prstGeom prst="rect">
            <a:avLst/>
          </a:prstGeom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4419659"/>
            <a:ext cx="11430000" cy="64260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1100" y="6273800"/>
            <a:ext cx="10185400" cy="38100"/>
          </a:xfrm>
          <a:prstGeom prst="rect">
            <a:avLst/>
          </a:prstGeom>
        </p:spPr>
      </p:pic>
      <p:pic>
        <p:nvPicPr>
          <p:cNvPr id="2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1100" y="8674100"/>
            <a:ext cx="101854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0E5F2E0F-65FD-4AE0-9512-3ED5A93FFD6C}"/>
              </a:ext>
            </a:extLst>
          </p:cNvPr>
          <p:cNvSpPr>
            <a:spLocks noGrp="1"/>
          </p:cNvSpPr>
          <p:nvPr/>
        </p:nvSpPr>
        <p:spPr>
          <a:xfrm>
            <a:off x="12560300" y="2489200"/>
            <a:ext cx="9766300" cy="3568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 명 : 사이버펑커 2026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장르 : TPS기반 방 탈출  / 잠입 액션 게임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기간 : 2026.03.01 ~ 03.20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인원 : 1인 개발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환경 : Unity 6000.3.6f1 / C#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0B7C8EA-19E0-4F2A-892D-8E61686DCA1E}"/>
              </a:ext>
            </a:extLst>
          </p:cNvPr>
          <p:cNvSpPr>
            <a:spLocks noGrp="1"/>
          </p:cNvSpPr>
          <p:nvPr/>
        </p:nvSpPr>
        <p:spPr>
          <a:xfrm>
            <a:off x="12700000" y="64008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간략 소개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3C5BB59-D085-488C-A286-05F880F28122}"/>
              </a:ext>
            </a:extLst>
          </p:cNvPr>
          <p:cNvSpPr>
            <a:spLocks noGrp="1"/>
          </p:cNvSpPr>
          <p:nvPr/>
        </p:nvSpPr>
        <p:spPr>
          <a:xfrm>
            <a:off x="12560300" y="7162800"/>
            <a:ext cx="97663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플레이어가 기밀 시설에 침투하여 적의 감시를 피해 이동하고, 다양한 퍼즐과 전투 기믹을 활용해 목표 지점까지 탈출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49B18F7-05D6-49B5-8A89-7F80FA028195}"/>
              </a:ext>
            </a:extLst>
          </p:cNvPr>
          <p:cNvSpPr>
            <a:spLocks noGrp="1"/>
          </p:cNvSpPr>
          <p:nvPr/>
        </p:nvSpPr>
        <p:spPr>
          <a:xfrm>
            <a:off x="12700000" y="8978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목표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FC03A68-1E5F-46A2-9185-79F3930EA801}"/>
              </a:ext>
            </a:extLst>
          </p:cNvPr>
          <p:cNvSpPr>
            <a:spLocks noGrp="1"/>
          </p:cNvSpPr>
          <p:nvPr/>
        </p:nvSpPr>
        <p:spPr>
          <a:xfrm>
            <a:off x="12700000" y="10337800"/>
            <a:ext cx="10337800" cy="1498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이동, 시점 제어, 적 감지, 전투 연출과 같은 기본 시스템을 독창적인 게임 기믹으로 구현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HUD와 UI없이도 플레이어가 자연스럽게 게임의 진행 방식과 목표를 이해하고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    몰입할 수 있도록 레벨 디자인 구성과 오브젝트 배치, 연출을 설계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20485C8-26C7-4F74-8130-A4D2996B3E35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소개</a:t>
            </a:r>
          </a:p>
        </p:txBody>
      </p:sp>
    </p:spTree>
    <p:extLst>
      <p:ext uri="{BB962C8B-B14F-4D97-AF65-F5344CB8AC3E}">
        <p14:creationId xmlns:p14="http://schemas.microsoft.com/office/powerpoint/2010/main" val="53833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626100" y="-4673600"/>
            <a:ext cx="13322300" cy="23533100"/>
          </a:xfrm>
          <a:prstGeom prst="rect">
            <a:avLst/>
          </a:prstGeom>
        </p:spPr>
      </p:pic>
      <p:pic>
        <p:nvPicPr>
          <p:cNvPr id="3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2A35E0F7-699A-41B6-8811-1E3D4062283C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768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내용1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3698ED6-E46F-4953-8C16-2C73D0A6BB5E}"/>
              </a:ext>
            </a:extLst>
          </p:cNvPr>
          <p:cNvSpPr>
            <a:spLocks noGrp="1"/>
          </p:cNvSpPr>
          <p:nvPr/>
        </p:nvSpPr>
        <p:spPr>
          <a:xfrm>
            <a:off x="5692588" y="1066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-레벨 디자인 구성</a:t>
            </a:r>
            <a:endParaRPr sz="33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4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5765800"/>
            <a:ext cx="7442200" cy="20066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152D9202-1A44-4AC5-8CD8-86CCD1C0B29D}"/>
              </a:ext>
            </a:extLst>
          </p:cNvPr>
          <p:cNvSpPr>
            <a:spLocks noGrp="1"/>
          </p:cNvSpPr>
          <p:nvPr/>
        </p:nvSpPr>
        <p:spPr>
          <a:xfrm>
            <a:off x="2717800" y="5930900"/>
            <a:ext cx="38735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570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감지 범위에 따른 잠입·전투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7647D40-F73E-47E4-B232-943FCEB72299}"/>
              </a:ext>
            </a:extLst>
          </p:cNvPr>
          <p:cNvSpPr>
            <a:spLocks noGrp="1"/>
          </p:cNvSpPr>
          <p:nvPr/>
        </p:nvSpPr>
        <p:spPr>
          <a:xfrm>
            <a:off x="2717800" y="6527800"/>
            <a:ext cx="73152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피격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영역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전방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감지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영역과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후방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암살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영역을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별도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Collider로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구성해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잠입·백어택·원거리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413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공격</a:t>
            </a:r>
            <a:r>
              <a:rPr lang="ko-KR" altLang="en-US" sz="2413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을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2413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7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00" y="1905000"/>
            <a:ext cx="7429499" cy="389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8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0" y="5765800"/>
            <a:ext cx="7442200" cy="20066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0B7A1929-4741-45A9-9584-4577B583928A}"/>
              </a:ext>
            </a:extLst>
          </p:cNvPr>
          <p:cNvSpPr>
            <a:spLocks noGrp="1"/>
          </p:cNvSpPr>
          <p:nvPr/>
        </p:nvSpPr>
        <p:spPr>
          <a:xfrm>
            <a:off x="13208000" y="5930900"/>
            <a:ext cx="38735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570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CCTV 감시 구역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A3A162B-FC0C-447D-8C22-1F30B392E5D8}"/>
              </a:ext>
            </a:extLst>
          </p:cNvPr>
          <p:cNvSpPr>
            <a:spLocks noGrp="1"/>
          </p:cNvSpPr>
          <p:nvPr/>
        </p:nvSpPr>
        <p:spPr>
          <a:xfrm>
            <a:off x="13220700" y="6527800"/>
            <a:ext cx="73152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CCTV 시야 영역에 진입하면 연결된 적에게 플레이어 위치를 전달하고 경보 추적 상태로 전환</a:t>
            </a:r>
          </a:p>
        </p:txBody>
      </p:sp>
      <p:pic>
        <p:nvPicPr>
          <p:cNvPr id="41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11722100"/>
            <a:ext cx="7442200" cy="20066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51CC044C-A240-4D87-B971-958E788EBEC3}"/>
              </a:ext>
            </a:extLst>
          </p:cNvPr>
          <p:cNvSpPr>
            <a:spLocks noGrp="1"/>
          </p:cNvSpPr>
          <p:nvPr/>
        </p:nvSpPr>
        <p:spPr>
          <a:xfrm>
            <a:off x="2717800" y="11874500"/>
            <a:ext cx="38735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570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조건 조합형 밸브 퍼즐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D0AEC01-474D-4F09-97BF-307CE244509C}"/>
              </a:ext>
            </a:extLst>
          </p:cNvPr>
          <p:cNvSpPr>
            <a:spLocks noGrp="1"/>
          </p:cNvSpPr>
          <p:nvPr/>
        </p:nvSpPr>
        <p:spPr>
          <a:xfrm>
            <a:off x="2679700" y="12484100"/>
            <a:ext cx="73914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32800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Raycast로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밸브를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클릭하면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413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밸브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상태가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</a:t>
            </a:r>
            <a:endParaRPr lang="en-US" sz="2413" b="0" i="0" u="none" spc="-100" dirty="0" smtClean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>
              <a:lnSpc>
                <a:spcPct val="132800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모든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밸브가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목표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상태가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되었을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때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다음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구역의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문을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개방</a:t>
            </a:r>
            <a:endParaRPr sz="2413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44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700" y="7861300"/>
            <a:ext cx="7353299" cy="389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5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0" y="11722100"/>
            <a:ext cx="7442200" cy="200660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F8EA318F-389F-4AC7-9F30-C698883234A4}"/>
              </a:ext>
            </a:extLst>
          </p:cNvPr>
          <p:cNvSpPr>
            <a:spLocks noGrp="1"/>
          </p:cNvSpPr>
          <p:nvPr/>
        </p:nvSpPr>
        <p:spPr>
          <a:xfrm>
            <a:off x="13208000" y="11874500"/>
            <a:ext cx="38735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570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파괴 가능한 벽과 히든 구역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EE237E5-3854-4D2C-AFC8-D69E123BB567}"/>
              </a:ext>
            </a:extLst>
          </p:cNvPr>
          <p:cNvSpPr>
            <a:spLocks noGrp="1"/>
          </p:cNvSpPr>
          <p:nvPr/>
        </p:nvSpPr>
        <p:spPr>
          <a:xfrm>
            <a:off x="13220700" y="12484100"/>
            <a:ext cx="73152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특정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벽이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총알에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일정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피격되면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붉게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점멸되고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lang="ko-KR" altLang="en-US"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벽의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내구도</a:t>
            </a:r>
            <a:r>
              <a:rPr lang="en-US"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소진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파괴되어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숨겨진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구역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개방</a:t>
            </a:r>
            <a:endParaRPr sz="2413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48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7861300"/>
            <a:ext cx="7429500" cy="389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9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1905000"/>
            <a:ext cx="7429500" cy="389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2643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884615"/>
            <a:ext cx="12852400" cy="23533100"/>
          </a:xfrm>
          <a:prstGeom prst="rect">
            <a:avLst/>
          </a:prstGeom>
        </p:spPr>
      </p:pic>
      <p:pic>
        <p:nvPicPr>
          <p:cNvPr id="27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BA8E715-147E-4779-AD9E-93CB1C0D95F0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</a:t>
            </a:r>
            <a:r>
              <a:rPr sz="5600" b="0" i="0" u="none" spc="-2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5600" b="0" i="0" u="none" spc="-200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구현</a:t>
            </a:r>
            <a:r>
              <a:rPr sz="5600" b="0" i="0" u="none" spc="-2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내용2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310CF36-E935-442B-B8A9-C0AA97DC33E5}"/>
              </a:ext>
            </a:extLst>
          </p:cNvPr>
          <p:cNvSpPr>
            <a:spLocks noGrp="1"/>
          </p:cNvSpPr>
          <p:nvPr/>
        </p:nvSpPr>
        <p:spPr>
          <a:xfrm>
            <a:off x="5803900" y="11557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-아이템 기능</a:t>
            </a:r>
          </a:p>
        </p:txBody>
      </p:sp>
      <p:pic>
        <p:nvPicPr>
          <p:cNvPr id="30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685" y="3517900"/>
            <a:ext cx="6604000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F7F7B492-454B-44FB-A0E5-6AB36BDC32BE}"/>
              </a:ext>
            </a:extLst>
          </p:cNvPr>
          <p:cNvSpPr>
            <a:spLocks noGrp="1"/>
          </p:cNvSpPr>
          <p:nvPr/>
        </p:nvSpPr>
        <p:spPr>
          <a:xfrm>
            <a:off x="2984500" y="85471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카드키-다음 구역 개방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EA9076E-2A81-4D8B-8E92-B3104EC29C45}"/>
              </a:ext>
            </a:extLst>
          </p:cNvPr>
          <p:cNvSpPr>
            <a:spLocks noGrp="1"/>
          </p:cNvSpPr>
          <p:nvPr/>
        </p:nvSpPr>
        <p:spPr>
          <a:xfrm>
            <a:off x="2019300" y="9626600"/>
            <a:ext cx="62230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맵에 드롭된 카드키를 획득하고, </a:t>
            </a:r>
          </a:p>
          <a:p>
            <a:pPr marL="342900" lvl="1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카드 리더에서 보유 여부를 확인해 잠긴 문을 개방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문 개방 시 Cinemachine Priority 전환을 통해 </a:t>
            </a:r>
          </a:p>
          <a:p>
            <a:pPr marL="342900" lvl="1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다음 진행 구역을 연출</a:t>
            </a:r>
          </a:p>
        </p:txBody>
      </p:sp>
      <p:pic>
        <p:nvPicPr>
          <p:cNvPr id="33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00" y="9220200"/>
            <a:ext cx="6604000" cy="38100"/>
          </a:xfrm>
          <a:prstGeom prst="rect">
            <a:avLst/>
          </a:prstGeom>
        </p:spPr>
      </p:pic>
      <p:pic>
        <p:nvPicPr>
          <p:cNvPr id="34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450" y="3517900"/>
            <a:ext cx="6591300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7B1BB8C-8253-413F-A5CB-928C78632A59}"/>
              </a:ext>
            </a:extLst>
          </p:cNvPr>
          <p:cNvSpPr>
            <a:spLocks noGrp="1"/>
          </p:cNvSpPr>
          <p:nvPr/>
        </p:nvSpPr>
        <p:spPr>
          <a:xfrm>
            <a:off x="9461500" y="8547100"/>
            <a:ext cx="52070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스캐너 - 감지 정보 시각화</a:t>
            </a:r>
          </a:p>
        </p:txBody>
      </p:sp>
      <p:pic>
        <p:nvPicPr>
          <p:cNvPr id="36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0" y="9220200"/>
            <a:ext cx="6604000" cy="38100"/>
          </a:xfrm>
          <a:prstGeom prst="rect">
            <a:avLst/>
          </a:prstGeom>
        </p:spPr>
      </p:pic>
      <p:pic>
        <p:nvPicPr>
          <p:cNvPr id="37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5515" y="3517900"/>
            <a:ext cx="6591300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7DF2FE8E-B6D1-4C68-95E5-FE7878914D10}"/>
              </a:ext>
            </a:extLst>
          </p:cNvPr>
          <p:cNvSpPr>
            <a:spLocks noGrp="1"/>
          </p:cNvSpPr>
          <p:nvPr/>
        </p:nvSpPr>
        <p:spPr>
          <a:xfrm>
            <a:off x="16344900" y="8597900"/>
            <a:ext cx="53721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시간 감속 장치-플레이어 전투 보조</a:t>
            </a:r>
          </a:p>
        </p:txBody>
      </p:sp>
      <p:pic>
        <p:nvPicPr>
          <p:cNvPr id="39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35300" y="9220200"/>
            <a:ext cx="6591300" cy="381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E2FCAAAD-FDA0-4675-B1BC-236AC650B611}"/>
              </a:ext>
            </a:extLst>
          </p:cNvPr>
          <p:cNvSpPr>
            <a:spLocks noGrp="1"/>
          </p:cNvSpPr>
          <p:nvPr/>
        </p:nvSpPr>
        <p:spPr>
          <a:xfrm>
            <a:off x="8991600" y="9626600"/>
            <a:ext cx="63754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스캔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모드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활성화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시 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Cinemachine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Camera</a:t>
            </a:r>
            <a:endParaRPr lang="en-US" sz="2400" b="0" i="0" u="none" spc="-100" dirty="0" smtClean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marL="0" lvl="1" algn="l">
              <a:lnSpc>
                <a:spcPct val="132800"/>
              </a:lnSpc>
              <a:buClr>
                <a:srgbClr val="000000"/>
              </a:buClr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Priority를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시야를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1인칭으로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전환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평상시에는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보이지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않는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CCTV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감지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영역과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</a:p>
          <a:p>
            <a:pPr marL="342900" lvl="1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상호작용가능한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히든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오브젝트를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구별하여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표시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66E322A-C318-4C45-9A4A-15B0C56F21A3}"/>
              </a:ext>
            </a:extLst>
          </p:cNvPr>
          <p:cNvSpPr>
            <a:spLocks noGrp="1"/>
          </p:cNvSpPr>
          <p:nvPr/>
        </p:nvSpPr>
        <p:spPr>
          <a:xfrm>
            <a:off x="15963900" y="9626600"/>
            <a:ext cx="69088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적 유닛과 투사체에 월드 속도 배율을 설정해 </a:t>
            </a:r>
          </a:p>
          <a:p>
            <a:pPr marL="342900" lvl="1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플레이어와 주변 객체의 속도 차이 적용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Global Volume의 Motion Blur와 Color Adjustments를 제어해 시간 감속 상태를 시각적으로 연출</a:t>
            </a:r>
          </a:p>
        </p:txBody>
      </p:sp>
    </p:spTree>
    <p:extLst>
      <p:ext uri="{BB962C8B-B14F-4D97-AF65-F5344CB8AC3E}">
        <p14:creationId xmlns:p14="http://schemas.microsoft.com/office/powerpoint/2010/main" val="98921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7B3E1E29-A55F-435D-959B-23A89662B3E3}"/>
              </a:ext>
            </a:extLst>
          </p:cNvPr>
          <p:cNvSpPr>
            <a:spLocks noGrp="1"/>
          </p:cNvSpPr>
          <p:nvPr/>
        </p:nvSpPr>
        <p:spPr>
          <a:xfrm>
            <a:off x="1219200" y="34798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상태 구분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92DE946-F65F-4D73-9C6C-D578B61378BE}"/>
              </a:ext>
            </a:extLst>
          </p:cNvPr>
          <p:cNvSpPr>
            <a:spLocks noGrp="1"/>
          </p:cNvSpPr>
          <p:nvPr/>
        </p:nvSpPr>
        <p:spPr>
          <a:xfrm>
            <a:off x="1270000" y="4165600"/>
            <a:ext cx="9461500" cy="25273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몬스터의 행동을 대기·순찰·추적·전투·피격·사망 상태로 구분하고</a:t>
            </a:r>
          </a:p>
          <a:p>
            <a:pPr marL="342900" lvl="1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FSM을 통해 행동 상태를 결정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플레이어를 직접 감지한 경우는 SELFCHASE으로</a:t>
            </a:r>
          </a:p>
          <a:p>
            <a:pPr marL="342900" lvl="1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CCTV를 통해 위치를 전달받은 경우는 ALERTCHASE로 관리하여</a:t>
            </a:r>
          </a:p>
          <a:p>
            <a:pPr marL="342900" lvl="1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상황에 따른 추적 행동 분리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62AFE71-66B5-4B1D-B5B4-A142B07860FB}"/>
              </a:ext>
            </a:extLst>
          </p:cNvPr>
          <p:cNvSpPr>
            <a:spLocks noGrp="1"/>
          </p:cNvSpPr>
          <p:nvPr/>
        </p:nvSpPr>
        <p:spPr>
          <a:xfrm>
            <a:off x="1193800" y="8928100"/>
            <a:ext cx="94361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NavMeshAgent를 이용해 순찰과 추적 이동 구현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상태에 따라 목적지·이동속도·정지 여부를 변경</a:t>
            </a:r>
          </a:p>
        </p:txBody>
      </p:sp>
      <p:pic>
        <p:nvPicPr>
          <p:cNvPr id="2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646A6CE-3C50-43CF-97F5-469ED3F1F4A7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768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8200E3E-02C2-43E6-A2FC-01E9BA9831A1}"/>
              </a:ext>
            </a:extLst>
          </p:cNvPr>
          <p:cNvSpPr>
            <a:spLocks noGrp="1"/>
          </p:cNvSpPr>
          <p:nvPr/>
        </p:nvSpPr>
        <p:spPr>
          <a:xfrm>
            <a:off x="6121400" y="10922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-몬스터 AI FSM 구현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71DEEF-8C4F-4143-A01B-BCCE78A90785}"/>
              </a:ext>
            </a:extLst>
          </p:cNvPr>
          <p:cNvSpPr>
            <a:spLocks noGrp="1"/>
          </p:cNvSpPr>
          <p:nvPr/>
        </p:nvSpPr>
        <p:spPr>
          <a:xfrm>
            <a:off x="1155700" y="79883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네비게이션 시스템-NavMesh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900" y="2298700"/>
            <a:ext cx="6159500" cy="4419600"/>
          </a:xfrm>
          <a:prstGeom prst="rect">
            <a:avLst/>
          </a:prstGeom>
        </p:spPr>
      </p:pic>
      <p:pic>
        <p:nvPicPr>
          <p:cNvPr id="25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700" y="2667000"/>
            <a:ext cx="5511800" cy="3670300"/>
          </a:xfrm>
          <a:prstGeom prst="rect">
            <a:avLst/>
          </a:prstGeom>
        </p:spPr>
      </p:pic>
      <p:pic>
        <p:nvPicPr>
          <p:cNvPr id="26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68300" y="3835400"/>
            <a:ext cx="10363200" cy="9283700"/>
          </a:xfrm>
          <a:prstGeom prst="rect">
            <a:avLst/>
          </a:prstGeom>
        </p:spPr>
      </p:pic>
      <p:pic>
        <p:nvPicPr>
          <p:cNvPr id="27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96900" y="4051300"/>
            <a:ext cx="99060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3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9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921000"/>
            <a:ext cx="10833100" cy="22479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4C9C8ED-8C9C-4ACA-9A20-EC0AF17A20F8}"/>
              </a:ext>
            </a:extLst>
          </p:cNvPr>
          <p:cNvSpPr>
            <a:spLocks noGrp="1"/>
          </p:cNvSpPr>
          <p:nvPr/>
        </p:nvSpPr>
        <p:spPr>
          <a:xfrm>
            <a:off x="12687300" y="30861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상황</a:t>
            </a:r>
            <a:endParaRPr sz="2933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4F22079-65FD-4A70-8AAF-73737B5DFDB6}"/>
              </a:ext>
            </a:extLst>
          </p:cNvPr>
          <p:cNvSpPr>
            <a:spLocks noGrp="1"/>
          </p:cNvSpPr>
          <p:nvPr/>
        </p:nvSpPr>
        <p:spPr>
          <a:xfrm>
            <a:off x="12687299" y="3708400"/>
            <a:ext cx="10260623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중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사격할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때마다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총알과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발사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이펙트를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생성하고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제거하는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구조에서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Instantiate와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Destroy가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반복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호출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연속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사격처럼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짧은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시간에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객체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사용이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집중될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불필요한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생성·제거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비용이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발생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8F72D77-F429-4C13-ADE0-2E5E1EE0D344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BD454A-F0C3-4A73-9E54-A676B6D4BEE0}"/>
              </a:ext>
            </a:extLst>
          </p:cNvPr>
          <p:cNvSpPr>
            <a:spLocks noGrp="1"/>
          </p:cNvSpPr>
          <p:nvPr/>
        </p:nvSpPr>
        <p:spPr>
          <a:xfrm>
            <a:off x="40259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-투사체와 이펙트 오브젝트 풀링</a:t>
            </a:r>
          </a:p>
        </p:txBody>
      </p:sp>
      <p:pic>
        <p:nvPicPr>
          <p:cNvPr id="34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7848600"/>
            <a:ext cx="10833100" cy="18923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C7AA7064-0836-4226-A340-6F8AFA23830F}"/>
              </a:ext>
            </a:extLst>
          </p:cNvPr>
          <p:cNvSpPr>
            <a:spLocks noGrp="1"/>
          </p:cNvSpPr>
          <p:nvPr/>
        </p:nvSpPr>
        <p:spPr>
          <a:xfrm>
            <a:off x="12687300" y="8013700"/>
            <a:ext cx="5613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풀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매니저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(Pool Manager) </a:t>
            </a:r>
            <a:r>
              <a:rPr sz="2933" b="0" i="0" u="none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구현</a:t>
            </a:r>
            <a:endParaRPr sz="2933" b="0" i="0" u="non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438A9E0-39BD-409B-8323-221FC7B8F9D3}"/>
              </a:ext>
            </a:extLst>
          </p:cNvPr>
          <p:cNvSpPr>
            <a:spLocks noGrp="1"/>
          </p:cNvSpPr>
          <p:nvPr/>
        </p:nvSpPr>
        <p:spPr>
          <a:xfrm>
            <a:off x="12687300" y="86995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Dictionary와 Queue를 이용해 객체 종류별 풀 관리 
풀에 남은 객체가 없을 경우 새로운 객체를 생성해 자동으로 확장되도록 구성</a:t>
            </a:r>
          </a:p>
        </p:txBody>
      </p:sp>
      <p:pic>
        <p:nvPicPr>
          <p:cNvPr id="37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5200" y="10160000"/>
            <a:ext cx="10833100" cy="21717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22DD91F2-F781-4D5B-815D-6D7494E74C1D}"/>
              </a:ext>
            </a:extLst>
          </p:cNvPr>
          <p:cNvSpPr>
            <a:spLocks noGrp="1"/>
          </p:cNvSpPr>
          <p:nvPr/>
        </p:nvSpPr>
        <p:spPr>
          <a:xfrm>
            <a:off x="12687300" y="10287000"/>
            <a:ext cx="5613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438460D-3903-42F0-B0E4-8FF1D4D89C24}"/>
              </a:ext>
            </a:extLst>
          </p:cNvPr>
          <p:cNvSpPr>
            <a:spLocks noGrp="1"/>
          </p:cNvSpPr>
          <p:nvPr/>
        </p:nvSpPr>
        <p:spPr>
          <a:xfrm>
            <a:off x="12700000" y="11049000"/>
            <a:ext cx="106553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반복 사용되는 전투 객체의 생성·반환 과정을 PoolManager로 통합하고, 
총알의 상태 초기화와 파티클의 자동 반환을 통해 객체를 재사용할 수 있도록 개선</a:t>
            </a:r>
          </a:p>
        </p:txBody>
      </p:sp>
      <p:pic>
        <p:nvPicPr>
          <p:cNvPr id="40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5200" y="5384800"/>
            <a:ext cx="10833100" cy="21082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DD7C6B7D-A030-45C6-97E9-74E58E5E0009}"/>
              </a:ext>
            </a:extLst>
          </p:cNvPr>
          <p:cNvSpPr>
            <a:spLocks noGrp="1"/>
          </p:cNvSpPr>
          <p:nvPr/>
        </p:nvSpPr>
        <p:spPr>
          <a:xfrm>
            <a:off x="12700000" y="5549900"/>
            <a:ext cx="5740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해결 방법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CB33E4F-F2D3-41F7-AC01-D815827093F5}"/>
              </a:ext>
            </a:extLst>
          </p:cNvPr>
          <p:cNvSpPr>
            <a:spLocks noGrp="1"/>
          </p:cNvSpPr>
          <p:nvPr/>
        </p:nvSpPr>
        <p:spPr>
          <a:xfrm>
            <a:off x="12700000" y="62738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반복적으로 사용되는 총알과 파티클을 미리 생성
사용이 끝난 객체를 비활성화한 뒤 다시 반환하는 오브젝트 풀링 구조 구현</a:t>
            </a:r>
          </a:p>
        </p:txBody>
      </p:sp>
      <p:pic>
        <p:nvPicPr>
          <p:cNvPr id="43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00" y="3238500"/>
            <a:ext cx="10909300" cy="8953500"/>
          </a:xfrm>
          <a:prstGeom prst="rect">
            <a:avLst/>
          </a:prstGeom>
        </p:spPr>
      </p:pic>
      <p:pic>
        <p:nvPicPr>
          <p:cNvPr id="44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00" y="3606800"/>
            <a:ext cx="4457700" cy="8458200"/>
          </a:xfrm>
          <a:prstGeom prst="rect">
            <a:avLst/>
          </a:prstGeom>
        </p:spPr>
      </p:pic>
      <p:pic>
        <p:nvPicPr>
          <p:cNvPr id="45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0" y="3759200"/>
            <a:ext cx="7112000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2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0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7810500"/>
            <a:ext cx="21526500" cy="381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5729AF90-D229-4B4C-8A15-36C82D5AE8B3}"/>
              </a:ext>
            </a:extLst>
          </p:cNvPr>
          <p:cNvSpPr>
            <a:spLocks noGrp="1"/>
          </p:cNvSpPr>
          <p:nvPr/>
        </p:nvSpPr>
        <p:spPr>
          <a:xfrm>
            <a:off x="1562100" y="3390900"/>
            <a:ext cx="21602700" cy="3721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본격적으로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게임을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첫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개인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조작·전투·AI·아이템·퍼즐을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구현하고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흐름으로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완성했습니다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초기에는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구현에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집중하면서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시스템이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참조하는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강한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결합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형성되었습니다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또한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switch-case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FSM은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추가될수록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클래스에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로직이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집중되어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수정과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확장이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어려워지는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한계를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경험했습니다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동작뿐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객체의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책임을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분리하고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범위를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줄이는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설계가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중요하다는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것을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배웠습니다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
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후속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프로젝트에서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93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여러 디자인 패턴 </a:t>
            </a:r>
            <a:r>
              <a:rPr sz="293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구조를</a:t>
            </a:r>
            <a:r>
              <a:rPr sz="293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적용하며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객체의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책임을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분리하고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시스템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간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결합도를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낮추는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설계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경험을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쌓았습니다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CCF101B-FC57-47B4-BA48-7867D07E3B20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</a:t>
            </a:r>
            <a:r>
              <a:rPr sz="5333" b="0" i="0" u="none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53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결과</a:t>
            </a:r>
            <a:endParaRPr sz="5333" b="0" i="0" u="none" cap="all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431277E-19FB-40F6-9B37-0D699E4D4759}"/>
              </a:ext>
            </a:extLst>
          </p:cNvPr>
          <p:cNvSpPr>
            <a:spLocks noGrp="1"/>
          </p:cNvSpPr>
          <p:nvPr/>
        </p:nvSpPr>
        <p:spPr>
          <a:xfrm>
            <a:off x="1562100" y="25527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회고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AA69BC1-B6E5-44CC-AD16-C5262373399B}"/>
              </a:ext>
            </a:extLst>
          </p:cNvPr>
          <p:cNvSpPr>
            <a:spLocks noGrp="1"/>
          </p:cNvSpPr>
          <p:nvPr/>
        </p:nvSpPr>
        <p:spPr>
          <a:xfrm>
            <a:off x="1562100" y="80772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참고 링크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1A4F0D7-3EA1-44CE-81BC-5539B6422AB1}"/>
              </a:ext>
            </a:extLst>
          </p:cNvPr>
          <p:cNvSpPr>
            <a:spLocks noGrp="1"/>
          </p:cNvSpPr>
          <p:nvPr/>
        </p:nvSpPr>
        <p:spPr>
          <a:xfrm>
            <a:off x="1562100" y="9017000"/>
            <a:ext cx="1422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깃허브 :</a:t>
            </a:r>
          </a:p>
        </p:txBody>
      </p:sp>
      <p:sp>
        <p:nvSpPr>
          <p:cNvPr id="10" name="TextBox 10">
            <a:hlinkClick r:id="rId6"/>
            <a:extLst>
              <a:ext uri="{FF2B5EF4-FFF2-40B4-BE49-F238E27FC236}">
                <a16:creationId xmlns:a16="http://schemas.microsoft.com/office/drawing/2014/main" id="{5DE7BB28-A5A5-498F-96AB-A147E7C4F39D}"/>
              </a:ext>
            </a:extLst>
          </p:cNvPr>
          <p:cNvSpPr>
            <a:spLocks noGrp="1"/>
          </p:cNvSpPr>
          <p:nvPr/>
        </p:nvSpPr>
        <p:spPr>
          <a:xfrm>
            <a:off x="3073400" y="9017000"/>
            <a:ext cx="124714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https://github.com/coldwater1346-cpu/Cyberpunker_2026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711C3BF-078E-459A-8417-7ABF24B99B2E}"/>
              </a:ext>
            </a:extLst>
          </p:cNvPr>
          <p:cNvSpPr>
            <a:spLocks noGrp="1"/>
          </p:cNvSpPr>
          <p:nvPr/>
        </p:nvSpPr>
        <p:spPr>
          <a:xfrm>
            <a:off x="1562100" y="9753600"/>
            <a:ext cx="2184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기획서 : </a:t>
            </a:r>
          </a:p>
        </p:txBody>
      </p:sp>
      <p:sp>
        <p:nvSpPr>
          <p:cNvPr id="12" name="TextBox 12">
            <a:hlinkClick r:id="rId6"/>
            <a:extLst>
              <a:ext uri="{FF2B5EF4-FFF2-40B4-BE49-F238E27FC236}">
                <a16:creationId xmlns:a16="http://schemas.microsoft.com/office/drawing/2014/main" id="{D1C255F5-82DE-415A-8DC6-21425819E305}"/>
              </a:ext>
            </a:extLst>
          </p:cNvPr>
          <p:cNvSpPr>
            <a:spLocks noGrp="1"/>
          </p:cNvSpPr>
          <p:nvPr/>
        </p:nvSpPr>
        <p:spPr>
          <a:xfrm>
            <a:off x="3467100" y="97536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https://app.notion.com/p/3c9aa1b05e3e80de8428d95ba45ba444?source=copy_link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0312222-7759-47F9-A0D5-7555079338AB}"/>
              </a:ext>
            </a:extLst>
          </p:cNvPr>
          <p:cNvSpPr>
            <a:spLocks noGrp="1"/>
          </p:cNvSpPr>
          <p:nvPr/>
        </p:nvSpPr>
        <p:spPr>
          <a:xfrm>
            <a:off x="1562100" y="10477500"/>
            <a:ext cx="3009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포트폴리오 영상 : </a:t>
            </a:r>
          </a:p>
        </p:txBody>
      </p:sp>
      <p:sp>
        <p:nvSpPr>
          <p:cNvPr id="14" name="TextBox 14">
            <a:hlinkClick r:id="rId6"/>
            <a:extLst>
              <a:ext uri="{FF2B5EF4-FFF2-40B4-BE49-F238E27FC236}">
                <a16:creationId xmlns:a16="http://schemas.microsoft.com/office/drawing/2014/main" id="{D8BA889D-029C-4D21-8D36-A228F2DF3E11}"/>
              </a:ext>
            </a:extLst>
          </p:cNvPr>
          <p:cNvSpPr>
            <a:spLocks noGrp="1"/>
          </p:cNvSpPr>
          <p:nvPr/>
        </p:nvSpPr>
        <p:spPr>
          <a:xfrm>
            <a:off x="4152900" y="104775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https://youtu.be/KYtJ9fC7hlI</a:t>
            </a:r>
          </a:p>
        </p:txBody>
      </p:sp>
    </p:spTree>
    <p:extLst>
      <p:ext uri="{BB962C8B-B14F-4D97-AF65-F5344CB8AC3E}">
        <p14:creationId xmlns:p14="http://schemas.microsoft.com/office/powerpoint/2010/main" val="15481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C1E0A4D0-3C63-4973-815A-6A05BF2F127E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C117E89-48BD-4B75-8806-4BA619663329}"/>
              </a:ext>
            </a:extLst>
          </p:cNvPr>
          <p:cNvSpPr>
            <a:spLocks noGrp="1"/>
          </p:cNvSpPr>
          <p:nvPr/>
        </p:nvSpPr>
        <p:spPr>
          <a:xfrm>
            <a:off x="4165600" y="1193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-미니 게임 제작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D141A8-C793-479E-9610-DBE18864088D}"/>
              </a:ext>
            </a:extLst>
          </p:cNvPr>
          <p:cNvSpPr>
            <a:spLocks noGrp="1"/>
          </p:cNvSpPr>
          <p:nvPr/>
        </p:nvSpPr>
        <p:spPr>
          <a:xfrm>
            <a:off x="1231900" y="2628900"/>
            <a:ext cx="20080654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Unity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에디터와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C#을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처음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활용하여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제작의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기본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구조를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익히고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물리·충돌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처리와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장르별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시스템을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구현한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초기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</a:t>
            </a:r>
            <a:endParaRPr sz="2933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2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9300" y="9055100"/>
            <a:ext cx="11226800" cy="4229100"/>
          </a:xfrm>
          <a:prstGeom prst="rect">
            <a:avLst/>
          </a:prstGeom>
        </p:spPr>
      </p:pic>
      <p:pic>
        <p:nvPicPr>
          <p:cNvPr id="33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9042400"/>
            <a:ext cx="10896600" cy="42291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0C1D9A7A-EBD3-4B87-B02C-A41141A806AC}"/>
              </a:ext>
            </a:extLst>
          </p:cNvPr>
          <p:cNvSpPr>
            <a:spLocks noGrp="1"/>
          </p:cNvSpPr>
          <p:nvPr/>
        </p:nvSpPr>
        <p:spPr>
          <a:xfrm>
            <a:off x="1231900" y="9334500"/>
            <a:ext cx="6096000" cy="1244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408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3D 비행 슈팅게임
횡스크롤 방식 3D 비행 전투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83E2BC1-384E-44F3-873D-ABC69ED1503C}"/>
              </a:ext>
            </a:extLst>
          </p:cNvPr>
          <p:cNvSpPr>
            <a:spLocks noGrp="1"/>
          </p:cNvSpPr>
          <p:nvPr/>
        </p:nvSpPr>
        <p:spPr>
          <a:xfrm>
            <a:off x="6553200" y="11049000"/>
            <a:ext cx="50800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Unity 3D 물리 및 충돌 처리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 이동·전투 시스템 구현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적 유닛 스폰 시스템 구현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VFX 적용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61636D-9941-44E0-91A8-5F1C5181525D}"/>
              </a:ext>
            </a:extLst>
          </p:cNvPr>
          <p:cNvSpPr>
            <a:spLocks noGrp="1"/>
          </p:cNvSpPr>
          <p:nvPr/>
        </p:nvSpPr>
        <p:spPr>
          <a:xfrm>
            <a:off x="12674600" y="9334500"/>
            <a:ext cx="5969000" cy="1244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408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2D RPG 게임
2D 쿼터뷰 파티형 RPG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443C38E-668E-473E-8C0F-30A82F45F5AC}"/>
              </a:ext>
            </a:extLst>
          </p:cNvPr>
          <p:cNvSpPr>
            <a:spLocks noGrp="1"/>
          </p:cNvSpPr>
          <p:nvPr/>
        </p:nvSpPr>
        <p:spPr>
          <a:xfrm>
            <a:off x="18757900" y="11049000"/>
            <a:ext cx="45466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타일맵 기반 맵 구성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2D 애니메이션 적용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NPC 상호작용 구현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Unity 2D 물리 및 충돌 처리</a:t>
            </a:r>
          </a:p>
        </p:txBody>
      </p:sp>
      <p:pic>
        <p:nvPicPr>
          <p:cNvPr id="38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9300" y="3632200"/>
            <a:ext cx="5511800" cy="5448300"/>
          </a:xfrm>
          <a:prstGeom prst="rect">
            <a:avLst/>
          </a:prstGeom>
        </p:spPr>
      </p:pic>
      <p:pic>
        <p:nvPicPr>
          <p:cNvPr id="39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81600" y="3644900"/>
            <a:ext cx="5511800" cy="54483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D1426CB1-B510-4FEE-9FB1-EACB4F5FBF24}"/>
              </a:ext>
            </a:extLst>
          </p:cNvPr>
          <p:cNvSpPr>
            <a:spLocks noGrp="1"/>
          </p:cNvSpPr>
          <p:nvPr/>
        </p:nvSpPr>
        <p:spPr>
          <a:xfrm>
            <a:off x="12623800" y="11137900"/>
            <a:ext cx="51435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환경 : Unity 2022.3.49f1 / C#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5B7645F-B80F-408B-A256-3A7287C04F79}"/>
              </a:ext>
            </a:extLst>
          </p:cNvPr>
          <p:cNvSpPr>
            <a:spLocks noGrp="1"/>
          </p:cNvSpPr>
          <p:nvPr/>
        </p:nvSpPr>
        <p:spPr>
          <a:xfrm>
            <a:off x="1054100" y="10896600"/>
            <a:ext cx="51435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환경 : Unity 2022.3.10f1 / C#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pic>
        <p:nvPicPr>
          <p:cNvPr id="42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953000" y="11823700"/>
            <a:ext cx="2260600" cy="38100"/>
          </a:xfrm>
          <a:prstGeom prst="rect">
            <a:avLst/>
          </a:prstGeom>
        </p:spPr>
      </p:pic>
      <p:pic>
        <p:nvPicPr>
          <p:cNvPr id="43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6764000" y="11988800"/>
            <a:ext cx="2260600" cy="38100"/>
          </a:xfrm>
          <a:prstGeom prst="rect">
            <a:avLst/>
          </a:prstGeom>
        </p:spPr>
      </p:pic>
      <p:pic>
        <p:nvPicPr>
          <p:cNvPr id="44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632200"/>
            <a:ext cx="3644900" cy="5448300"/>
          </a:xfrm>
          <a:prstGeom prst="rect">
            <a:avLst/>
          </a:prstGeom>
        </p:spPr>
      </p:pic>
      <p:pic>
        <p:nvPicPr>
          <p:cNvPr id="45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3644900"/>
            <a:ext cx="72644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6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5A4279DD-40FB-4535-B4EF-2AE0B9261843}"/>
              </a:ext>
            </a:extLst>
          </p:cNvPr>
          <p:cNvSpPr>
            <a:spLocks noGrp="1"/>
          </p:cNvSpPr>
          <p:nvPr/>
        </p:nvSpPr>
        <p:spPr>
          <a:xfrm>
            <a:off x="1409700" y="3695700"/>
            <a:ext cx="97790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2025 평택 에브리원 축제의 평택대학교·AI융합대학원 홍보 부스에서 운영한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러너형 퀴즈 게임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68985B-3541-4B76-9417-AC909498C4ED}"/>
              </a:ext>
            </a:extLst>
          </p:cNvPr>
          <p:cNvSpPr>
            <a:spLocks noGrp="1"/>
          </p:cNvSpPr>
          <p:nvPr/>
        </p:nvSpPr>
        <p:spPr>
          <a:xfrm>
            <a:off x="1460500" y="29591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 기술 퀴즈 러너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EDC11FD-8957-4CC4-AD19-5A7365AAC452}"/>
              </a:ext>
            </a:extLst>
          </p:cNvPr>
          <p:cNvSpPr>
            <a:spLocks noGrp="1"/>
          </p:cNvSpPr>
          <p:nvPr/>
        </p:nvSpPr>
        <p:spPr>
          <a:xfrm>
            <a:off x="1257300" y="7721600"/>
            <a:ext cx="6223000" cy="1358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장애물 회피 기반 러너 게임 구성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부스 내 전시 작품을 주제로 한 퀴즈 콘텐츠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정답 관문 선택을 통한 퀴즈 진행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A6030C8-30F7-4603-B58E-3A1F16F14B80}"/>
              </a:ext>
            </a:extLst>
          </p:cNvPr>
          <p:cNvSpPr>
            <a:spLocks noGrp="1"/>
          </p:cNvSpPr>
          <p:nvPr/>
        </p:nvSpPr>
        <p:spPr>
          <a:xfrm>
            <a:off x="1409700" y="10058400"/>
            <a:ext cx="246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활동 경험</a:t>
            </a:r>
          </a:p>
        </p:txBody>
      </p:sp>
      <p:pic>
        <p:nvPicPr>
          <p:cNvPr id="2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1B4D0759-F867-4B43-BDE6-874950E47197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67B4E72-6A77-4530-8BB4-448AC5B50D58}"/>
              </a:ext>
            </a:extLst>
          </p:cNvPr>
          <p:cNvSpPr>
            <a:spLocks noGrp="1"/>
          </p:cNvSpPr>
          <p:nvPr/>
        </p:nvSpPr>
        <p:spPr>
          <a:xfrm>
            <a:off x="3898900" y="1193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-대학 교내 및 외부활동 연계1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8939775-A269-46EC-830E-82417D20054F}"/>
              </a:ext>
            </a:extLst>
          </p:cNvPr>
          <p:cNvSpPr>
            <a:spLocks noGrp="1"/>
          </p:cNvSpPr>
          <p:nvPr/>
        </p:nvSpPr>
        <p:spPr>
          <a:xfrm>
            <a:off x="1409700" y="10795000"/>
            <a:ext cx="97790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행사 목적에 맞춘 체험형 홍보 게임 제작
축제 현장에서 실제 이용자를 대상으로 게임 운영 경험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CCC81D3-2BF5-4B5C-928C-838CFF0A7033}"/>
              </a:ext>
            </a:extLst>
          </p:cNvPr>
          <p:cNvSpPr>
            <a:spLocks noGrp="1"/>
          </p:cNvSpPr>
          <p:nvPr/>
        </p:nvSpPr>
        <p:spPr>
          <a:xfrm>
            <a:off x="1409700" y="7200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 기능</a:t>
            </a:r>
          </a:p>
        </p:txBody>
      </p:sp>
      <p:pic>
        <p:nvPicPr>
          <p:cNvPr id="3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6438900"/>
            <a:ext cx="10604500" cy="38100"/>
          </a:xfrm>
          <a:prstGeom prst="rect">
            <a:avLst/>
          </a:prstGeom>
        </p:spPr>
      </p:pic>
      <p:pic>
        <p:nvPicPr>
          <p:cNvPr id="3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9677400"/>
            <a:ext cx="10604500" cy="381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A15370ED-DBEE-4561-A043-19846C304B6F}"/>
              </a:ext>
            </a:extLst>
          </p:cNvPr>
          <p:cNvSpPr>
            <a:spLocks noGrp="1"/>
          </p:cNvSpPr>
          <p:nvPr/>
        </p:nvSpPr>
        <p:spPr>
          <a:xfrm>
            <a:off x="1409700" y="4965700"/>
            <a:ext cx="7150100" cy="13081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환경 : Unity 6000.1.14f1 / C#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pic>
        <p:nvPicPr>
          <p:cNvPr id="3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6400" y="4013200"/>
            <a:ext cx="11404600" cy="7988300"/>
          </a:xfrm>
          <a:prstGeom prst="rect">
            <a:avLst/>
          </a:prstGeom>
        </p:spPr>
      </p:pic>
      <p:pic>
        <p:nvPicPr>
          <p:cNvPr id="3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78400" y="4457700"/>
            <a:ext cx="5397500" cy="7188200"/>
          </a:xfrm>
          <a:prstGeom prst="rect">
            <a:avLst/>
          </a:prstGeom>
        </p:spPr>
      </p:pic>
      <p:pic>
        <p:nvPicPr>
          <p:cNvPr id="3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01500" y="4775200"/>
            <a:ext cx="5549900" cy="3136900"/>
          </a:xfrm>
          <a:prstGeom prst="rect">
            <a:avLst/>
          </a:prstGeom>
        </p:spPr>
      </p:pic>
      <p:pic>
        <p:nvPicPr>
          <p:cNvPr id="3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0" y="8293100"/>
            <a:ext cx="55499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4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E83F1572-F30B-40A6-BAC8-E3692576DFAE}"/>
              </a:ext>
            </a:extLst>
          </p:cNvPr>
          <p:cNvSpPr>
            <a:spLocks noGrp="1"/>
          </p:cNvSpPr>
          <p:nvPr/>
        </p:nvSpPr>
        <p:spPr>
          <a:xfrm>
            <a:off x="1244600" y="3898900"/>
            <a:ext cx="977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Unity를 활용한 공공기관 체험형 메타버스 콘텐츠 기획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AFAFBE-04D3-44FF-A2FC-40062CF8D8D2}"/>
              </a:ext>
            </a:extLst>
          </p:cNvPr>
          <p:cNvSpPr>
            <a:spLocks noGrp="1"/>
          </p:cNvSpPr>
          <p:nvPr/>
        </p:nvSpPr>
        <p:spPr>
          <a:xfrm>
            <a:off x="1295400" y="2933700"/>
            <a:ext cx="8597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"시민 참여형" 메타버스 플랫폼-평택 LIVE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DBC6424-DF6E-4E45-8B7D-8F7288FBFBBC}"/>
              </a:ext>
            </a:extLst>
          </p:cNvPr>
          <p:cNvSpPr>
            <a:spLocks noGrp="1"/>
          </p:cNvSpPr>
          <p:nvPr/>
        </p:nvSpPr>
        <p:spPr>
          <a:xfrm>
            <a:off x="1257300" y="7734300"/>
            <a:ext cx="6223000" cy="18161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공공기관 정보 및 민원 서비스의 가상공간 콘텐츠화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메타버스 공간 체험과 민원 서비스 체험 구조 설계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민원 서비스 제공 인터페이스 제작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Unity를 활용한 메타버스 공간 프로토타입 제작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1182F2-C165-478E-8B74-43F9DB6B57BA}"/>
              </a:ext>
            </a:extLst>
          </p:cNvPr>
          <p:cNvSpPr>
            <a:spLocks noGrp="1"/>
          </p:cNvSpPr>
          <p:nvPr/>
        </p:nvSpPr>
        <p:spPr>
          <a:xfrm>
            <a:off x="1409700" y="10058400"/>
            <a:ext cx="246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활동 경험</a:t>
            </a:r>
          </a:p>
        </p:txBody>
      </p:sp>
      <p:pic>
        <p:nvPicPr>
          <p:cNvPr id="34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A8078788-2874-456E-8F8E-6B260E772126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5A32029-8074-42FF-A4BD-8CE6E0AEA6F9}"/>
              </a:ext>
            </a:extLst>
          </p:cNvPr>
          <p:cNvSpPr>
            <a:spLocks noGrp="1"/>
          </p:cNvSpPr>
          <p:nvPr/>
        </p:nvSpPr>
        <p:spPr>
          <a:xfrm>
            <a:off x="3898900" y="1193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-대학 교내 및 외부활동 연계2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0D3FE8-7EDB-4707-B5A5-7828143C89AD}"/>
              </a:ext>
            </a:extLst>
          </p:cNvPr>
          <p:cNvSpPr>
            <a:spLocks noGrp="1"/>
          </p:cNvSpPr>
          <p:nvPr/>
        </p:nvSpPr>
        <p:spPr>
          <a:xfrm>
            <a:off x="1333500" y="10795000"/>
            <a:ext cx="99314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평택대학교 Team-up  경진 대회 참가  / 팀 기획 및 협업 진행
평택대 대표 기획안 선별 및 2025 지속가능발전을 위한 대학혁신포럼(BEXCO) 전시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08C5FC5-516A-4CE7-B5DD-8977E0A0BAD8}"/>
              </a:ext>
            </a:extLst>
          </p:cNvPr>
          <p:cNvSpPr>
            <a:spLocks noGrp="1"/>
          </p:cNvSpPr>
          <p:nvPr/>
        </p:nvSpPr>
        <p:spPr>
          <a:xfrm>
            <a:off x="1409700" y="7200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 기획</a:t>
            </a:r>
          </a:p>
        </p:txBody>
      </p:sp>
      <p:pic>
        <p:nvPicPr>
          <p:cNvPr id="39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6438900"/>
            <a:ext cx="10604500" cy="38100"/>
          </a:xfrm>
          <a:prstGeom prst="rect">
            <a:avLst/>
          </a:prstGeom>
        </p:spPr>
      </p:pic>
      <p:pic>
        <p:nvPicPr>
          <p:cNvPr id="40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9677400"/>
            <a:ext cx="10604500" cy="38100"/>
          </a:xfrm>
          <a:prstGeom prst="rect">
            <a:avLst/>
          </a:prstGeom>
        </p:spPr>
      </p:pic>
      <p:pic>
        <p:nvPicPr>
          <p:cNvPr id="41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9600" y="3467100"/>
            <a:ext cx="11328400" cy="8978900"/>
          </a:xfrm>
          <a:prstGeom prst="rect">
            <a:avLst/>
          </a:prstGeom>
        </p:spPr>
      </p:pic>
      <p:pic>
        <p:nvPicPr>
          <p:cNvPr id="42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3100" y="3759200"/>
            <a:ext cx="6032500" cy="8521700"/>
          </a:xfrm>
          <a:prstGeom prst="rect">
            <a:avLst/>
          </a:prstGeom>
        </p:spPr>
      </p:pic>
      <p:pic>
        <p:nvPicPr>
          <p:cNvPr id="43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9500" y="9550400"/>
            <a:ext cx="4343400" cy="2730500"/>
          </a:xfrm>
          <a:prstGeom prst="rect">
            <a:avLst/>
          </a:prstGeom>
        </p:spPr>
      </p:pic>
      <p:pic>
        <p:nvPicPr>
          <p:cNvPr id="44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6800" y="6718300"/>
            <a:ext cx="4356100" cy="2743200"/>
          </a:xfrm>
          <a:prstGeom prst="rect">
            <a:avLst/>
          </a:prstGeom>
        </p:spPr>
      </p:pic>
      <p:pic>
        <p:nvPicPr>
          <p:cNvPr id="45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09500" y="3937000"/>
            <a:ext cx="4305300" cy="27051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37707879-1890-4294-A1B1-604EB065315B}"/>
              </a:ext>
            </a:extLst>
          </p:cNvPr>
          <p:cNvSpPr>
            <a:spLocks noGrp="1"/>
          </p:cNvSpPr>
          <p:nvPr/>
        </p:nvSpPr>
        <p:spPr>
          <a:xfrm>
            <a:off x="1409700" y="4965700"/>
            <a:ext cx="7150100" cy="13081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환경 : Unity 6000.3.6f1 / C#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</p:spTree>
    <p:extLst>
      <p:ext uri="{BB962C8B-B14F-4D97-AF65-F5344CB8AC3E}">
        <p14:creationId xmlns:p14="http://schemas.microsoft.com/office/powerpoint/2010/main" val="188842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6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431800"/>
            <a:ext cx="508000" cy="12852400"/>
          </a:xfrm>
          <a:prstGeom prst="rect">
            <a:avLst/>
          </a:prstGeom>
        </p:spPr>
      </p:pic>
      <p:pic>
        <p:nvPicPr>
          <p:cNvPr id="27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700" y="9156700"/>
            <a:ext cx="20561300" cy="3048000"/>
          </a:xfrm>
          <a:prstGeom prst="rect">
            <a:avLst/>
          </a:prstGeom>
        </p:spPr>
      </p:pic>
      <p:pic>
        <p:nvPicPr>
          <p:cNvPr id="28" name="Picture 5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2197100" y="9448800"/>
            <a:ext cx="20002500" cy="2463800"/>
          </a:xfrm>
          <a:prstGeom prst="rect">
            <a:avLst/>
          </a:prstGeom>
        </p:spPr>
      </p:pic>
      <p:pic>
        <p:nvPicPr>
          <p:cNvPr id="29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1700" y="10756900"/>
            <a:ext cx="20040600" cy="38100"/>
          </a:xfrm>
          <a:prstGeom prst="rect">
            <a:avLst/>
          </a:prstGeom>
        </p:spPr>
      </p:pic>
      <p:pic>
        <p:nvPicPr>
          <p:cNvPr id="30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18500" y="11328400"/>
            <a:ext cx="1104900" cy="38100"/>
          </a:xfrm>
          <a:prstGeom prst="rect">
            <a:avLst/>
          </a:prstGeom>
        </p:spPr>
      </p:pic>
      <p:pic>
        <p:nvPicPr>
          <p:cNvPr id="31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960600" y="11328400"/>
            <a:ext cx="1104900" cy="381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3D5F7B84-634B-4592-BFCE-E7BC6F77BAA7}"/>
              </a:ext>
            </a:extLst>
          </p:cNvPr>
          <p:cNvSpPr>
            <a:spLocks noGrp="1"/>
          </p:cNvSpPr>
          <p:nvPr/>
        </p:nvSpPr>
        <p:spPr>
          <a:xfrm>
            <a:off x="2476500" y="9728200"/>
            <a:ext cx="33909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(Name)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474D295-E5AD-4082-AA41-A2436B5066AA}"/>
              </a:ext>
            </a:extLst>
          </p:cNvPr>
          <p:cNvSpPr>
            <a:spLocks noGrp="1"/>
          </p:cNvSpPr>
          <p:nvPr/>
        </p:nvSpPr>
        <p:spPr>
          <a:xfrm>
            <a:off x="10096500" y="9690100"/>
            <a:ext cx="4203700" cy="863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46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이찬수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7E457E6-62A7-4CBD-B36E-8A9721D4FA30}"/>
              </a:ext>
            </a:extLst>
          </p:cNvPr>
          <p:cNvSpPr>
            <a:spLocks noGrp="1"/>
          </p:cNvSpPr>
          <p:nvPr/>
        </p:nvSpPr>
        <p:spPr>
          <a:xfrm>
            <a:off x="9271000" y="10972800"/>
            <a:ext cx="28194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(GitHub)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51BF614-47F3-40F5-AE01-77C646E57D46}"/>
              </a:ext>
            </a:extLst>
          </p:cNvPr>
          <p:cNvSpPr>
            <a:spLocks noGrp="1"/>
          </p:cNvSpPr>
          <p:nvPr/>
        </p:nvSpPr>
        <p:spPr>
          <a:xfrm>
            <a:off x="2476500" y="10972800"/>
            <a:ext cx="30226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(E-Mail)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BBC105A-D1A9-45F6-99BC-34D867A30DA7}"/>
              </a:ext>
            </a:extLst>
          </p:cNvPr>
          <p:cNvSpPr>
            <a:spLocks noGrp="1"/>
          </p:cNvSpPr>
          <p:nvPr/>
        </p:nvSpPr>
        <p:spPr>
          <a:xfrm>
            <a:off x="15862300" y="10972800"/>
            <a:ext cx="28194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(Tel)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56BFFE1-2E9B-4D87-AD77-FB465F3C7D69}"/>
              </a:ext>
            </a:extLst>
          </p:cNvPr>
          <p:cNvSpPr>
            <a:spLocks noGrp="1"/>
          </p:cNvSpPr>
          <p:nvPr/>
        </p:nvSpPr>
        <p:spPr>
          <a:xfrm>
            <a:off x="3606800" y="11252200"/>
            <a:ext cx="38100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>
                <a:solidFill>
                  <a:srgbClr val="000000"/>
                </a:solidFill>
                <a:latin typeface="Arial"/>
                <a:ea typeface="Arial"/>
                <a:cs typeface="Arial"/>
                <a:hlinkClick r:id="rId9"/>
              </a:rPr>
              <a:t>coldwater1346@gmail.com</a:t>
            </a:r>
            <a:endParaRPr sz="2133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B7B3A2D-DCE8-481B-96A8-79CC1D86249F}"/>
              </a:ext>
            </a:extLst>
          </p:cNvPr>
          <p:cNvSpPr>
            <a:spLocks noGrp="1"/>
          </p:cNvSpPr>
          <p:nvPr/>
        </p:nvSpPr>
        <p:spPr>
          <a:xfrm>
            <a:off x="9588500" y="11328400"/>
            <a:ext cx="53975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>
                <a:solidFill>
                  <a:srgbClr val="000000"/>
                </a:solidFill>
                <a:latin typeface="Arial"/>
                <a:ea typeface="Arial"/>
                <a:cs typeface="Arial"/>
                <a:hlinkClick r:id="rId10"/>
              </a:rPr>
              <a:t>https://github.com/coldwater1346-cpu</a:t>
            </a:r>
            <a:endParaRPr sz="2133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F98AD13-890A-43C9-9FBF-AE458DA84B8B}"/>
              </a:ext>
            </a:extLst>
          </p:cNvPr>
          <p:cNvSpPr>
            <a:spLocks noGrp="1"/>
          </p:cNvSpPr>
          <p:nvPr/>
        </p:nvSpPr>
        <p:spPr>
          <a:xfrm>
            <a:off x="16938438" y="11296650"/>
            <a:ext cx="38100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010-5122-9478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904C8C6-FCC2-44DB-86C7-36ED4CD3CD67}"/>
              </a:ext>
            </a:extLst>
          </p:cNvPr>
          <p:cNvSpPr>
            <a:spLocks noGrp="1"/>
          </p:cNvSpPr>
          <p:nvPr/>
        </p:nvSpPr>
        <p:spPr>
          <a:xfrm>
            <a:off x="2933700" y="3606800"/>
            <a:ext cx="18516600" cy="3467100"/>
          </a:xfrm>
          <a:prstGeom prst="rect">
            <a:avLst/>
          </a:prstGeom>
        </p:spPr>
        <p:txBody>
          <a:bodyPr lIns="0" tIns="245533" rIns="0" bIns="245533" anchor="ctr"/>
          <a:lstStyle/>
          <a:p>
            <a:pPr lvl="0" algn="ctr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19333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Thank you! </a:t>
            </a:r>
          </a:p>
        </p:txBody>
      </p:sp>
    </p:spTree>
    <p:extLst>
      <p:ext uri="{BB962C8B-B14F-4D97-AF65-F5344CB8AC3E}">
        <p14:creationId xmlns:p14="http://schemas.microsoft.com/office/powerpoint/2010/main" val="183263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3079</Words>
  <Application>Microsoft Office PowerPoint</Application>
  <DocSecurity>0</DocSecurity>
  <PresentationFormat>사용자 지정</PresentationFormat>
  <Paragraphs>425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Jalnan 2</vt:lpstr>
      <vt:lpstr>Montserrat Regular</vt:lpstr>
      <vt:lpstr>Noto Sans KR</vt:lpstr>
      <vt:lpstr>Pretendard Light</vt:lpstr>
      <vt:lpstr>Pretendard Medium</vt:lpstr>
      <vt:lpstr>Pretendard Regular</vt:lpstr>
      <vt:lpstr>Pretendard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5</cp:revision>
  <dcterms:created xsi:type="dcterms:W3CDTF">2026-08-27T03:36:16Z</dcterms:created>
  <dcterms:modified xsi:type="dcterms:W3CDTF">2026-08-27T06:24:47Z</dcterms:modified>
</cp:coreProperties>
</file>